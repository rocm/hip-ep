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40280"/>
          </a:xfrm>
          <a:prstGeom prst="rect">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10515600" cy="731520"/>
          </a:xfrm>
          <a:prstGeom prst="rect">
            <a:avLst/>
          </a:prstGeom>
          <a:noFill/>
        </p:spPr>
        <p:txBody>
          <a:bodyPr wrap="square" anchor="t" lIns="0" rIns="0" tIns="0" bIns="0">
            <a:spAutoFit/>
          </a:bodyPr>
          <a:lstStyle/>
          <a:p>
            <a:pPr algn="l">
              <a:spcBef>
                <a:spcPts val="0"/>
              </a:spcBef>
              <a:spcAft>
                <a:spcPts val="600"/>
              </a:spcAft>
            </a:pPr>
            <a:r>
              <a:rPr sz="4000" b="1">
                <a:solidFill>
                  <a:srgbClr val="FFFFFF"/>
                </a:solidFill>
                <a:latin typeface="Segoe UI"/>
              </a:rPr>
              <a:t>Hybrid NPU + GPU Execution</a:t>
            </a:r>
          </a:p>
        </p:txBody>
      </p:sp>
      <p:sp>
        <p:nvSpPr>
          <p:cNvPr id="4" name="TextBox 3"/>
          <p:cNvSpPr txBox="1"/>
          <p:nvPr/>
        </p:nvSpPr>
        <p:spPr>
          <a:xfrm>
            <a:off x="822960" y="1481328"/>
            <a:ext cx="10515600" cy="457200"/>
          </a:xfrm>
          <a:prstGeom prst="rect">
            <a:avLst/>
          </a:prstGeom>
          <a:noFill/>
        </p:spPr>
        <p:txBody>
          <a:bodyPr wrap="square" anchor="t" lIns="0" rIns="0" tIns="0" bIns="0">
            <a:spAutoFit/>
          </a:bodyPr>
          <a:lstStyle/>
          <a:p>
            <a:pPr algn="l">
              <a:spcBef>
                <a:spcPts val="0"/>
              </a:spcBef>
              <a:spcAft>
                <a:spcPts val="600"/>
              </a:spcAft>
            </a:pPr>
            <a:r>
              <a:rPr sz="1700" b="0">
                <a:solidFill>
                  <a:srgbClr val="C9D0D8"/>
                </a:solidFill>
                <a:latin typeface="Segoe UI"/>
              </a:rPr>
              <a:t>Faster prompt response and lower power for on-device LLMs</a:t>
            </a:r>
          </a:p>
        </p:txBody>
      </p:sp>
      <p:sp>
        <p:nvSpPr>
          <p:cNvPr id="5" name="TextBox 4"/>
          <p:cNvSpPr txBox="1"/>
          <p:nvPr/>
        </p:nvSpPr>
        <p:spPr>
          <a:xfrm>
            <a:off x="822960" y="2743200"/>
            <a:ext cx="10515600" cy="822960"/>
          </a:xfrm>
          <a:prstGeom prst="rect">
            <a:avLst/>
          </a:prstGeom>
          <a:noFill/>
        </p:spPr>
        <p:txBody>
          <a:bodyPr wrap="square" anchor="t" lIns="0" rIns="0" tIns="0" bIns="0">
            <a:spAutoFit/>
          </a:bodyPr>
          <a:lstStyle/>
          <a:p>
            <a:pPr algn="l">
              <a:lnSpc>
                <a:spcPct val="135000"/>
              </a:lnSpc>
              <a:spcBef>
                <a:spcPts val="0"/>
              </a:spcBef>
              <a:spcAft>
                <a:spcPts val="600"/>
              </a:spcAft>
            </a:pPr>
            <a:r>
              <a:rPr sz="1900" b="0">
                <a:solidFill>
                  <a:srgbClr val="333B47"/>
                </a:solidFill>
                <a:latin typeface="Segoe UI"/>
              </a:rPr>
              <a:t>Use each processor for the phase it is good at — </a:t>
            </a:r>
            <a:r>
              <a:rPr sz="1900" b="1">
                <a:solidFill>
                  <a:srgbClr val="14181F"/>
                </a:solidFill>
                <a:latin typeface="Segoe UI"/>
              </a:rPr>
              <a:t>the NPU for reading the prompt, the GPU for writing the answer</a:t>
            </a:r>
            <a:r>
              <a:rPr sz="1900" b="0">
                <a:solidFill>
                  <a:srgbClr val="333B47"/>
                </a:solidFill>
                <a:latin typeface="Segoe UI"/>
              </a:rPr>
              <a:t> — inside one unchanged application.</a:t>
            </a:r>
          </a:p>
        </p:txBody>
      </p:sp>
      <p:sp>
        <p:nvSpPr>
          <p:cNvPr id="6" name="Rounded Rectangle 5"/>
          <p:cNvSpPr/>
          <p:nvPr/>
        </p:nvSpPr>
        <p:spPr>
          <a:xfrm>
            <a:off x="822960" y="4069080"/>
            <a:ext cx="3291840" cy="914400"/>
          </a:xfrm>
          <a:prstGeom prst="roundRect">
            <a:avLst>
              <a:gd name="adj" fmla="val 6000"/>
            </a:avLst>
          </a:prstGeom>
          <a:solidFill>
            <a:srgbClr val="F8FAFC"/>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B45309"/>
                </a:solidFill>
                <a:latin typeface="Segoe UI"/>
              </a:rPr>
              <a:t>TARGET</a:t>
            </a:r>
          </a:p>
          <a:p>
            <a:pPr algn="ctr">
              <a:spcAft>
                <a:spcPts val="200"/>
              </a:spcAft>
            </a:pPr>
            <a:r>
              <a:rPr sz="1200" b="0">
                <a:solidFill>
                  <a:srgbClr val="333B47"/>
                </a:solidFill>
                <a:latin typeface="Segoe UI"/>
              </a:rPr>
              <a:t>Ryzen AI  ·  Strix-class APU</a:t>
            </a:r>
          </a:p>
        </p:txBody>
      </p:sp>
      <p:sp>
        <p:nvSpPr>
          <p:cNvPr id="7" name="Rounded Rectangle 6"/>
          <p:cNvSpPr/>
          <p:nvPr/>
        </p:nvSpPr>
        <p:spPr>
          <a:xfrm>
            <a:off x="4434840" y="4069080"/>
            <a:ext cx="3291840" cy="914400"/>
          </a:xfrm>
          <a:prstGeom prst="roundRect">
            <a:avLst>
              <a:gd name="adj" fmla="val 6000"/>
            </a:avLst>
          </a:prstGeom>
          <a:solidFill>
            <a:srgbClr val="F8FAFC"/>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1D4ED8"/>
                </a:solidFill>
                <a:latin typeface="Segoe UI"/>
              </a:rPr>
              <a:t>FIRST MODELS</a:t>
            </a:r>
          </a:p>
          <a:p>
            <a:pPr algn="ctr">
              <a:spcAft>
                <a:spcPts val="200"/>
              </a:spcAft>
            </a:pPr>
            <a:r>
              <a:rPr sz="1200" b="0">
                <a:solidFill>
                  <a:srgbClr val="333B47"/>
                </a:solidFill>
                <a:latin typeface="Segoe UI"/>
              </a:rPr>
              <a:t>Llama-3.2-1B, then Llama-3.1-8B</a:t>
            </a:r>
          </a:p>
        </p:txBody>
      </p:sp>
      <p:sp>
        <p:nvSpPr>
          <p:cNvPr id="8" name="Rounded Rectangle 7"/>
          <p:cNvSpPr/>
          <p:nvPr/>
        </p:nvSpPr>
        <p:spPr>
          <a:xfrm>
            <a:off x="8046720" y="4069080"/>
            <a:ext cx="3291840" cy="914400"/>
          </a:xfrm>
          <a:prstGeom prst="roundRect">
            <a:avLst>
              <a:gd name="adj" fmla="val 6000"/>
            </a:avLst>
          </a:prstGeom>
          <a:solidFill>
            <a:srgbClr val="F8FAFC"/>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047857"/>
                </a:solidFill>
                <a:latin typeface="Segoe UI"/>
              </a:rPr>
              <a:t>ACCEPTANCE</a:t>
            </a:r>
          </a:p>
          <a:p>
            <a:pPr algn="ctr">
              <a:spcAft>
                <a:spcPts val="200"/>
              </a:spcAft>
            </a:pPr>
            <a:r>
              <a:rPr sz="1200" b="0">
                <a:solidFill>
                  <a:srgbClr val="333B47"/>
                </a:solidFill>
                <a:latin typeface="Segoe UI"/>
              </a:rPr>
              <a:t>Accuracy, not a throughput number</a:t>
            </a:r>
          </a:p>
        </p:txBody>
      </p:sp>
      <p:sp>
        <p:nvSpPr>
          <p:cNvPr id="9" name="TextBox 8"/>
          <p:cNvSpPr txBox="1"/>
          <p:nvPr/>
        </p:nvSpPr>
        <p:spPr>
          <a:xfrm>
            <a:off x="822960" y="5760720"/>
            <a:ext cx="10515600" cy="365760"/>
          </a:xfrm>
          <a:prstGeom prst="rect">
            <a:avLst/>
          </a:prstGeom>
          <a:noFill/>
        </p:spPr>
        <p:txBody>
          <a:bodyPr wrap="square" anchor="t" lIns="0" rIns="0" tIns="0" bIns="0">
            <a:spAutoFit/>
          </a:bodyPr>
          <a:lstStyle/>
          <a:p>
            <a:pPr algn="l">
              <a:spcBef>
                <a:spcPts val="0"/>
              </a:spcBef>
              <a:spcAft>
                <a:spcPts val="600"/>
              </a:spcAft>
            </a:pPr>
            <a:r>
              <a:rPr sz="1200" b="0">
                <a:solidFill>
                  <a:srgbClr val="6B7480"/>
                </a:solidFill>
                <a:latin typeface="Segoe UI"/>
              </a:rPr>
              <a:t>Design review complete  ·  Phase 0 in progress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789920" cy="274320"/>
          </a:xfrm>
          <a:prstGeom prst="rect">
            <a:avLst/>
          </a:prstGeom>
          <a:noFill/>
        </p:spPr>
        <p:txBody>
          <a:bodyPr wrap="square" anchor="t" lIns="0" rIns="0" tIns="0" bIns="0">
            <a:spAutoFit/>
          </a:bodyPr>
          <a:lstStyle/>
          <a:p>
            <a:pPr algn="l">
              <a:spcBef>
                <a:spcPts val="0"/>
              </a:spcBef>
              <a:spcAft>
                <a:spcPts val="600"/>
              </a:spcAft>
            </a:pPr>
            <a:r>
              <a:rPr sz="1100" b="1">
                <a:solidFill>
                  <a:srgbClr val="6B7480"/>
                </a:solidFill>
                <a:latin typeface="Segoe UI"/>
              </a:rPr>
              <a:t>THE OPPORTUNITY</a:t>
            </a:r>
          </a:p>
        </p:txBody>
      </p:sp>
      <p:sp>
        <p:nvSpPr>
          <p:cNvPr id="3" name="TextBox 2"/>
          <p:cNvSpPr txBox="1"/>
          <p:nvPr/>
        </p:nvSpPr>
        <p:spPr>
          <a:xfrm>
            <a:off x="685800" y="658368"/>
            <a:ext cx="10789920" cy="548640"/>
          </a:xfrm>
          <a:prstGeom prst="rect">
            <a:avLst/>
          </a:prstGeom>
          <a:noFill/>
        </p:spPr>
        <p:txBody>
          <a:bodyPr wrap="square" anchor="t" lIns="0" rIns="0" tIns="0" bIns="0">
            <a:spAutoFit/>
          </a:bodyPr>
          <a:lstStyle/>
          <a:p>
            <a:pPr algn="l">
              <a:spcBef>
                <a:spcPts val="0"/>
              </a:spcBef>
              <a:spcAft>
                <a:spcPts val="600"/>
              </a:spcAft>
            </a:pPr>
            <a:r>
              <a:rPr sz="3000" b="1">
                <a:solidFill>
                  <a:srgbClr val="14181F"/>
                </a:solidFill>
                <a:latin typeface="Segoe UI"/>
              </a:rPr>
              <a:t>Two phases, opposite needs</a:t>
            </a:r>
          </a:p>
        </p:txBody>
      </p:sp>
      <p:sp>
        <p:nvSpPr>
          <p:cNvPr id="4" name="Rectangle 3"/>
          <p:cNvSpPr/>
          <p:nvPr/>
        </p:nvSpPr>
        <p:spPr>
          <a:xfrm>
            <a:off x="685800" y="1316736"/>
            <a:ext cx="10789920" cy="1524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27048"/>
            <a:ext cx="10789920" cy="457200"/>
          </a:xfrm>
          <a:prstGeom prst="rect">
            <a:avLst/>
          </a:prstGeom>
          <a:noFill/>
        </p:spPr>
        <p:txBody>
          <a:bodyPr wrap="square" anchor="t" lIns="0" rIns="0" tIns="0" bIns="0">
            <a:spAutoFit/>
          </a:bodyPr>
          <a:lstStyle/>
          <a:p>
            <a:pPr algn="l">
              <a:lnSpc>
                <a:spcPct val="130000"/>
              </a:lnSpc>
              <a:spcBef>
                <a:spcPts val="0"/>
              </a:spcBef>
              <a:spcAft>
                <a:spcPts val="600"/>
              </a:spcAft>
            </a:pPr>
            <a:r>
              <a:rPr sz="1500" b="0">
                <a:solidFill>
                  <a:srgbClr val="333B47"/>
                </a:solidFill>
                <a:latin typeface="Segoe UI"/>
              </a:rPr>
              <a:t>Generating text has two stages that stress hardware in </a:t>
            </a:r>
            <a:r>
              <a:rPr sz="1500" b="1">
                <a:solidFill>
                  <a:srgbClr val="14181F"/>
                </a:solidFill>
                <a:latin typeface="Segoe UI"/>
              </a:rPr>
              <a:t>completely different ways</a:t>
            </a:r>
            <a:r>
              <a:rPr sz="1500" b="0">
                <a:solidFill>
                  <a:srgbClr val="333B47"/>
                </a:solidFill>
                <a:latin typeface="Segoe UI"/>
              </a:rPr>
              <a:t>. Today we run both on the GPU, so one of them is always on the wrong processor.</a:t>
            </a:r>
          </a:p>
        </p:txBody>
      </p:sp>
      <p:sp>
        <p:nvSpPr>
          <p:cNvPr id="6" name="Rounded Rectangle 5"/>
          <p:cNvSpPr/>
          <p:nvPr/>
        </p:nvSpPr>
        <p:spPr>
          <a:xfrm>
            <a:off x="685800" y="2304288"/>
            <a:ext cx="5212080" cy="1874519"/>
          </a:xfrm>
          <a:prstGeom prst="roundRect">
            <a:avLst>
              <a:gd name="adj" fmla="val 6000"/>
            </a:avLst>
          </a:prstGeom>
          <a:solidFill>
            <a:srgbClr val="FFFBEB"/>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100" b="1">
                <a:solidFill>
                  <a:srgbClr val="B45309"/>
                </a:solidFill>
                <a:latin typeface="Segoe UI"/>
              </a:rPr>
              <a:t>READING THE PROMPT</a:t>
            </a:r>
          </a:p>
          <a:p>
            <a:pPr algn="l">
              <a:spcAft>
                <a:spcPts val="200"/>
              </a:spcAft>
            </a:pPr>
            <a:r>
              <a:rPr sz="1300" b="0">
                <a:solidFill>
                  <a:srgbClr val="333B47"/>
                </a:solidFill>
                <a:latin typeface="Segoe UI"/>
              </a:rPr>
              <a:t>Happens once. Processes every word at the same time.</a:t>
            </a:r>
          </a:p>
          <a:p>
            <a:pPr algn="l">
              <a:spcAft>
                <a:spcPts val="200"/>
              </a:spcAft>
            </a:pPr>
            <a:r>
              <a:rPr sz="1400" b="1">
                <a:solidFill>
                  <a:srgbClr val="14181F"/>
                </a:solidFill>
                <a:latin typeface="Segoe UI"/>
              </a:rPr>
              <a:t>Limited by raw compute</a:t>
            </a:r>
          </a:p>
          <a:p>
            <a:pPr algn="l">
              <a:spcAft>
                <a:spcPts val="200"/>
              </a:spcAft>
            </a:pPr>
            <a:r>
              <a:rPr sz="1500" b="1">
                <a:solidFill>
                  <a:srgbClr val="B45309"/>
                </a:solidFill>
                <a:latin typeface="Segoe UI"/>
              </a:rPr>
              <a:t>Best on the NPU</a:t>
            </a:r>
          </a:p>
        </p:txBody>
      </p:sp>
      <p:sp>
        <p:nvSpPr>
          <p:cNvPr id="7" name="Rounded Rectangle 6"/>
          <p:cNvSpPr/>
          <p:nvPr/>
        </p:nvSpPr>
        <p:spPr>
          <a:xfrm>
            <a:off x="6263640" y="2304288"/>
            <a:ext cx="5212080" cy="1874519"/>
          </a:xfrm>
          <a:prstGeom prst="roundRect">
            <a:avLst>
              <a:gd name="adj" fmla="val 6000"/>
            </a:avLst>
          </a:prstGeom>
          <a:solidFill>
            <a:srgbClr val="EFF6FF"/>
          </a:solidFill>
          <a:ln w="1905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100" b="1">
                <a:solidFill>
                  <a:srgbClr val="1D4ED8"/>
                </a:solidFill>
                <a:latin typeface="Segoe UI"/>
              </a:rPr>
              <a:t>WRITING THE ANSWER</a:t>
            </a:r>
          </a:p>
          <a:p>
            <a:pPr algn="l">
              <a:spcAft>
                <a:spcPts val="200"/>
              </a:spcAft>
            </a:pPr>
            <a:r>
              <a:rPr sz="1300" b="0">
                <a:solidFill>
                  <a:srgbClr val="333B47"/>
                </a:solidFill>
                <a:latin typeface="Segoe UI"/>
              </a:rPr>
              <a:t>Repeats for every word produced. One word at a time.</a:t>
            </a:r>
          </a:p>
          <a:p>
            <a:pPr algn="l">
              <a:spcAft>
                <a:spcPts val="200"/>
              </a:spcAft>
            </a:pPr>
            <a:r>
              <a:rPr sz="1400" b="1">
                <a:solidFill>
                  <a:srgbClr val="14181F"/>
                </a:solidFill>
                <a:latin typeface="Segoe UI"/>
              </a:rPr>
              <a:t>Limited by memory speed</a:t>
            </a:r>
          </a:p>
          <a:p>
            <a:pPr algn="l">
              <a:spcAft>
                <a:spcPts val="200"/>
              </a:spcAft>
            </a:pPr>
            <a:r>
              <a:rPr sz="1500" b="1">
                <a:solidFill>
                  <a:srgbClr val="1D4ED8"/>
                </a:solidFill>
                <a:latin typeface="Segoe UI"/>
              </a:rPr>
              <a:t>Best on the GPU</a:t>
            </a:r>
          </a:p>
        </p:txBody>
      </p:sp>
      <p:sp>
        <p:nvSpPr>
          <p:cNvPr id="8" name="Rounded Rectangle 7"/>
          <p:cNvSpPr/>
          <p:nvPr/>
        </p:nvSpPr>
        <p:spPr>
          <a:xfrm>
            <a:off x="685800" y="4453128"/>
            <a:ext cx="10789920" cy="868680"/>
          </a:xfrm>
          <a:prstGeom prst="roundRect">
            <a:avLst>
              <a:gd name="adj" fmla="val 6000"/>
            </a:avLst>
          </a:prstGeom>
          <a:solidFill>
            <a:srgbClr val="ECFDF5"/>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500" b="1">
                <a:solidFill>
                  <a:srgbClr val="14181F"/>
                </a:solidFill>
                <a:latin typeface="Segoe UI"/>
              </a:rPr>
              <a:t>Splitting them improves how fast the first word appears, and frees each processor to idle while the other works.</a:t>
            </a: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spcBef>
                <a:spcPts val="0"/>
              </a:spcBef>
              <a:spcAft>
                <a:spcPts val="600"/>
              </a:spcAft>
            </a:pPr>
            <a:r>
              <a:rPr sz="900" b="0">
                <a:solidFill>
                  <a:srgbClr val="6B7480"/>
                </a:solidFill>
                <a:latin typeface="Segoe UI"/>
              </a:rPr>
              <a:t>Hybrid NPU + GPU Execution  ·  MorphiZen HIP EP</a:t>
            </a:r>
          </a:p>
        </p:txBody>
      </p:sp>
      <p:sp>
        <p:nvSpPr>
          <p:cNvPr id="10" name="TextBox 9"/>
          <p:cNvSpPr txBox="1"/>
          <p:nvPr/>
        </p:nvSpPr>
        <p:spPr>
          <a:xfrm>
            <a:off x="10881360" y="6355080"/>
            <a:ext cx="594360" cy="274320"/>
          </a:xfrm>
          <a:prstGeom prst="rect">
            <a:avLst/>
          </a:prstGeom>
          <a:noFill/>
        </p:spPr>
        <p:txBody>
          <a:bodyPr wrap="square" anchor="t" lIns="0" rIns="0" tIns="0" bIns="0">
            <a:spAutoFit/>
          </a:bodyPr>
          <a:lstStyle/>
          <a:p>
            <a:pPr algn="r">
              <a:spcBef>
                <a:spcPts val="0"/>
              </a:spcBef>
              <a:spcAft>
                <a:spcPts val="600"/>
              </a:spcAft>
            </a:pPr>
            <a:r>
              <a:rPr sz="900" b="0">
                <a:solidFill>
                  <a:srgbClr val="6B748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789920" cy="274320"/>
          </a:xfrm>
          <a:prstGeom prst="rect">
            <a:avLst/>
          </a:prstGeom>
          <a:noFill/>
        </p:spPr>
        <p:txBody>
          <a:bodyPr wrap="square" anchor="t" lIns="0" rIns="0" tIns="0" bIns="0">
            <a:spAutoFit/>
          </a:bodyPr>
          <a:lstStyle/>
          <a:p>
            <a:pPr algn="l">
              <a:spcBef>
                <a:spcPts val="0"/>
              </a:spcBef>
              <a:spcAft>
                <a:spcPts val="600"/>
              </a:spcAft>
            </a:pPr>
            <a:r>
              <a:rPr sz="1100" b="1">
                <a:solidFill>
                  <a:srgbClr val="6B7480"/>
                </a:solidFill>
                <a:latin typeface="Segoe UI"/>
              </a:rPr>
              <a:t>THE APPROACH</a:t>
            </a:r>
          </a:p>
        </p:txBody>
      </p:sp>
      <p:sp>
        <p:nvSpPr>
          <p:cNvPr id="3" name="TextBox 2"/>
          <p:cNvSpPr txBox="1"/>
          <p:nvPr/>
        </p:nvSpPr>
        <p:spPr>
          <a:xfrm>
            <a:off x="685800" y="658368"/>
            <a:ext cx="10789920" cy="548640"/>
          </a:xfrm>
          <a:prstGeom prst="rect">
            <a:avLst/>
          </a:prstGeom>
          <a:noFill/>
        </p:spPr>
        <p:txBody>
          <a:bodyPr wrap="square" anchor="t" lIns="0" rIns="0" tIns="0" bIns="0">
            <a:spAutoFit/>
          </a:bodyPr>
          <a:lstStyle/>
          <a:p>
            <a:pPr algn="l">
              <a:spcBef>
                <a:spcPts val="0"/>
              </a:spcBef>
              <a:spcAft>
                <a:spcPts val="600"/>
              </a:spcAft>
            </a:pPr>
            <a:r>
              <a:rPr sz="3000" b="1">
                <a:solidFill>
                  <a:srgbClr val="14181F"/>
                </a:solidFill>
                <a:latin typeface="Segoe UI"/>
              </a:rPr>
              <a:t>One session, two processors</a:t>
            </a:r>
          </a:p>
        </p:txBody>
      </p:sp>
      <p:sp>
        <p:nvSpPr>
          <p:cNvPr id="4" name="Rectangle 3"/>
          <p:cNvSpPr/>
          <p:nvPr/>
        </p:nvSpPr>
        <p:spPr>
          <a:xfrm>
            <a:off x="685800" y="1316736"/>
            <a:ext cx="10789920" cy="1524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27048"/>
            <a:ext cx="10789920" cy="365760"/>
          </a:xfrm>
          <a:prstGeom prst="rect">
            <a:avLst/>
          </a:prstGeom>
          <a:noFill/>
        </p:spPr>
        <p:txBody>
          <a:bodyPr wrap="square" anchor="t" lIns="0" rIns="0" tIns="0" bIns="0">
            <a:spAutoFit/>
          </a:bodyPr>
          <a:lstStyle/>
          <a:p>
            <a:pPr algn="l">
              <a:spcBef>
                <a:spcPts val="0"/>
              </a:spcBef>
              <a:spcAft>
                <a:spcPts val="600"/>
              </a:spcAft>
            </a:pPr>
            <a:r>
              <a:rPr sz="1500" b="0">
                <a:solidFill>
                  <a:srgbClr val="333B47"/>
                </a:solidFill>
                <a:latin typeface="Segoe UI"/>
              </a:rPr>
              <a:t>The application is unchanged. Work is routed per request inside our execution provider.</a:t>
            </a:r>
          </a:p>
        </p:txBody>
      </p:sp>
      <p:sp>
        <p:nvSpPr>
          <p:cNvPr id="6" name="Rounded Rectangle 5"/>
          <p:cNvSpPr/>
          <p:nvPr/>
        </p:nvSpPr>
        <p:spPr>
          <a:xfrm>
            <a:off x="685800" y="2532888"/>
            <a:ext cx="1371600" cy="914400"/>
          </a:xfrm>
          <a:prstGeom prst="roundRect">
            <a:avLst>
              <a:gd name="adj" fmla="val 6000"/>
            </a:avLst>
          </a:prstGeom>
          <a:solidFill>
            <a:srgbClr val="F8FAFC"/>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400" b="1">
                <a:solidFill>
                  <a:srgbClr val="14181F"/>
                </a:solidFill>
                <a:latin typeface="Segoe UI"/>
              </a:rPr>
              <a:t>Prompt</a:t>
            </a:r>
          </a:p>
        </p:txBody>
      </p:sp>
      <p:sp>
        <p:nvSpPr>
          <p:cNvPr id="7" name="Right Arrow 6"/>
          <p:cNvSpPr/>
          <p:nvPr/>
        </p:nvSpPr>
        <p:spPr>
          <a:xfrm>
            <a:off x="2194560" y="2926080"/>
            <a:ext cx="457200" cy="146304"/>
          </a:xfrm>
          <a:prstGeom prst="rightArrow">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88920" y="2212848"/>
            <a:ext cx="2743200" cy="1554480"/>
          </a:xfrm>
          <a:prstGeom prst="roundRect">
            <a:avLst>
              <a:gd name="adj" fmla="val 6000"/>
            </a:avLst>
          </a:prstGeom>
          <a:solidFill>
            <a:srgbClr val="FFFBEB"/>
          </a:solidFill>
          <a:ln w="254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2000" b="1">
                <a:solidFill>
                  <a:srgbClr val="B45309"/>
                </a:solidFill>
                <a:latin typeface="Segoe UI"/>
              </a:rPr>
              <a:t>NPU</a:t>
            </a:r>
          </a:p>
          <a:p>
            <a:pPr algn="ctr">
              <a:spcAft>
                <a:spcPts val="200"/>
              </a:spcAft>
            </a:pPr>
            <a:r>
              <a:rPr sz="1200" b="0">
                <a:solidFill>
                  <a:srgbClr val="333B47"/>
                </a:solidFill>
                <a:latin typeface="Segoe UI"/>
              </a:rPr>
              <a:t>Reads the whole prompt</a:t>
            </a:r>
          </a:p>
          <a:p>
            <a:pPr algn="ctr">
              <a:spcAft>
                <a:spcPts val="200"/>
              </a:spcAft>
            </a:pPr>
            <a:r>
              <a:rPr sz="1200" b="0">
                <a:solidFill>
                  <a:srgbClr val="333B47"/>
                </a:solidFill>
                <a:latin typeface="Segoe UI"/>
              </a:rPr>
              <a:t>Runs once per request</a:t>
            </a:r>
          </a:p>
        </p:txBody>
      </p:sp>
      <p:sp>
        <p:nvSpPr>
          <p:cNvPr id="9" name="Right Arrow 8"/>
          <p:cNvSpPr/>
          <p:nvPr/>
        </p:nvSpPr>
        <p:spPr>
          <a:xfrm>
            <a:off x="5669280" y="2926080"/>
            <a:ext cx="457200" cy="146304"/>
          </a:xfrm>
          <a:prstGeom prst="rightArrow">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63640" y="2350008"/>
            <a:ext cx="2103120" cy="1280160"/>
          </a:xfrm>
          <a:prstGeom prst="roundRect">
            <a:avLst>
              <a:gd name="adj" fmla="val 6000"/>
            </a:avLst>
          </a:prstGeom>
          <a:solidFill>
            <a:srgbClr val="ECFDF5"/>
          </a:solidFill>
          <a:ln w="254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300" b="1">
                <a:solidFill>
                  <a:srgbClr val="047857"/>
                </a:solidFill>
                <a:latin typeface="Segoe UI"/>
              </a:rPr>
              <a:t>Shared memory</a:t>
            </a:r>
          </a:p>
          <a:p>
            <a:pPr algn="ctr">
              <a:spcAft>
                <a:spcPts val="200"/>
              </a:spcAft>
            </a:pPr>
            <a:r>
              <a:rPr sz="1100" b="0">
                <a:solidFill>
                  <a:srgbClr val="047857"/>
                </a:solidFill>
                <a:latin typeface="Segoe UI"/>
              </a:rPr>
              <a:t>handoff point</a:t>
            </a:r>
          </a:p>
        </p:txBody>
      </p:sp>
      <p:sp>
        <p:nvSpPr>
          <p:cNvPr id="11" name="Right Arrow 10"/>
          <p:cNvSpPr/>
          <p:nvPr/>
        </p:nvSpPr>
        <p:spPr>
          <a:xfrm>
            <a:off x="8503920" y="2926080"/>
            <a:ext cx="457200" cy="146304"/>
          </a:xfrm>
          <a:prstGeom prst="rightArrow">
            <a:avLst/>
          </a:prstGeom>
          <a:solidFill>
            <a:srgbClr val="6B74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098280" y="2212848"/>
            <a:ext cx="2377440" cy="1554480"/>
          </a:xfrm>
          <a:prstGeom prst="roundRect">
            <a:avLst>
              <a:gd name="adj" fmla="val 6000"/>
            </a:avLst>
          </a:prstGeom>
          <a:solidFill>
            <a:srgbClr val="EFF6FF"/>
          </a:solidFill>
          <a:ln w="254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2000" b="1">
                <a:solidFill>
                  <a:srgbClr val="1D4ED8"/>
                </a:solidFill>
                <a:latin typeface="Segoe UI"/>
              </a:rPr>
              <a:t>GPU</a:t>
            </a:r>
          </a:p>
          <a:p>
            <a:pPr algn="ctr">
              <a:spcAft>
                <a:spcPts val="200"/>
              </a:spcAft>
            </a:pPr>
            <a:r>
              <a:rPr sz="1200" b="0">
                <a:solidFill>
                  <a:srgbClr val="333B47"/>
                </a:solidFill>
                <a:latin typeface="Segoe UI"/>
              </a:rPr>
              <a:t>Writes the answer</a:t>
            </a:r>
          </a:p>
          <a:p>
            <a:pPr algn="ctr">
              <a:spcAft>
                <a:spcPts val="200"/>
              </a:spcAft>
            </a:pPr>
            <a:r>
              <a:rPr sz="1200" b="0">
                <a:solidFill>
                  <a:srgbClr val="333B47"/>
                </a:solidFill>
                <a:latin typeface="Segoe UI"/>
              </a:rPr>
              <a:t>Loops per word</a:t>
            </a:r>
          </a:p>
        </p:txBody>
      </p:sp>
      <p:sp>
        <p:nvSpPr>
          <p:cNvPr id="13" name="TextBox 12"/>
          <p:cNvSpPr txBox="1"/>
          <p:nvPr/>
        </p:nvSpPr>
        <p:spPr>
          <a:xfrm>
            <a:off x="685800" y="4041648"/>
            <a:ext cx="10789920" cy="365760"/>
          </a:xfrm>
          <a:prstGeom prst="rect">
            <a:avLst/>
          </a:prstGeom>
          <a:noFill/>
        </p:spPr>
        <p:txBody>
          <a:bodyPr wrap="square" anchor="t" lIns="0" rIns="0" tIns="0" bIns="0">
            <a:spAutoFit/>
          </a:bodyPr>
          <a:lstStyle/>
          <a:p>
            <a:pPr algn="l">
              <a:spcBef>
                <a:spcPts val="0"/>
              </a:spcBef>
              <a:spcAft>
                <a:spcPts val="600"/>
              </a:spcAft>
            </a:pPr>
            <a:r>
              <a:rPr sz="1500" b="1">
                <a:solidFill>
                  <a:srgbClr val="14181F"/>
                </a:solidFill>
                <a:latin typeface="Segoe UI"/>
              </a:rPr>
              <a:t>The handoff is the shared memory itself. </a:t>
            </a:r>
            <a:r>
              <a:rPr sz="1500" b="0">
                <a:solidFill>
                  <a:srgbClr val="333B47"/>
                </a:solidFill>
                <a:latin typeface="Segoe UI"/>
              </a:rPr>
              <a:t>Nothing is transferred, converted or reorganised when work moves between processors.</a:t>
            </a:r>
          </a:p>
        </p:txBody>
      </p:sp>
      <p:sp>
        <p:nvSpPr>
          <p:cNvPr id="14" name="Rounded Rectangle 13"/>
          <p:cNvSpPr/>
          <p:nvPr/>
        </p:nvSpPr>
        <p:spPr>
          <a:xfrm>
            <a:off x="685800" y="4544568"/>
            <a:ext cx="3429000" cy="868680"/>
          </a:xfrm>
          <a:prstGeom prst="roundRect">
            <a:avLst>
              <a:gd name="adj" fmla="val 6000"/>
            </a:avLst>
          </a:prstGeom>
          <a:solidFill>
            <a:srgbClr val="F8FAFC"/>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300" b="1">
                <a:solidFill>
                  <a:srgbClr val="14181F"/>
                </a:solidFill>
                <a:latin typeface="Segoe UI"/>
              </a:rPr>
              <a:t>No application change</a:t>
            </a:r>
          </a:p>
          <a:p>
            <a:pPr algn="l">
              <a:spcAft>
                <a:spcPts val="200"/>
              </a:spcAft>
            </a:pPr>
            <a:r>
              <a:rPr sz="1100" b="0">
                <a:solidFill>
                  <a:srgbClr val="6B7480"/>
                </a:solidFill>
                <a:latin typeface="Segoe UI"/>
              </a:rPr>
              <a:t>Same model file, same interface, one session.</a:t>
            </a:r>
          </a:p>
        </p:txBody>
      </p:sp>
      <p:sp>
        <p:nvSpPr>
          <p:cNvPr id="15" name="Rounded Rectangle 14"/>
          <p:cNvSpPr/>
          <p:nvPr/>
        </p:nvSpPr>
        <p:spPr>
          <a:xfrm>
            <a:off x="4370832" y="4544568"/>
            <a:ext cx="3429000" cy="868680"/>
          </a:xfrm>
          <a:prstGeom prst="roundRect">
            <a:avLst>
              <a:gd name="adj" fmla="val 6000"/>
            </a:avLst>
          </a:prstGeom>
          <a:solidFill>
            <a:srgbClr val="F8FAFC"/>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300" b="1">
                <a:solidFill>
                  <a:srgbClr val="14181F"/>
                </a:solidFill>
                <a:latin typeface="Segoe UI"/>
              </a:rPr>
              <a:t>Decided per request</a:t>
            </a:r>
          </a:p>
          <a:p>
            <a:pPr algn="l">
              <a:spcAft>
                <a:spcPts val="200"/>
              </a:spcAft>
            </a:pPr>
            <a:r>
              <a:rPr sz="1100" b="0">
                <a:solidFill>
                  <a:srgbClr val="6B7480"/>
                </a:solidFill>
                <a:latin typeface="Segoe UI"/>
              </a:rPr>
              <a:t>A conversation can switch back and forth freely.</a:t>
            </a:r>
          </a:p>
        </p:txBody>
      </p:sp>
      <p:sp>
        <p:nvSpPr>
          <p:cNvPr id="16" name="Rounded Rectangle 15"/>
          <p:cNvSpPr/>
          <p:nvPr/>
        </p:nvSpPr>
        <p:spPr>
          <a:xfrm>
            <a:off x="8055864" y="4544568"/>
            <a:ext cx="3429000" cy="868680"/>
          </a:xfrm>
          <a:prstGeom prst="roundRect">
            <a:avLst>
              <a:gd name="adj" fmla="val 6000"/>
            </a:avLst>
          </a:prstGeom>
          <a:solidFill>
            <a:srgbClr val="F8FAFC"/>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300" b="1">
                <a:solidFill>
                  <a:srgbClr val="14181F"/>
                </a:solidFill>
                <a:latin typeface="Segoe UI"/>
              </a:rPr>
              <a:t>GPU path untouched</a:t>
            </a:r>
          </a:p>
          <a:p>
            <a:pPr algn="l">
              <a:spcAft>
                <a:spcPts val="200"/>
              </a:spcAft>
            </a:pPr>
            <a:r>
              <a:rPr sz="1100" b="0">
                <a:solidFill>
                  <a:srgbClr val="6B7480"/>
                </a:solidFill>
                <a:latin typeface="Segoe UI"/>
              </a:rPr>
              <a:t>Today's behaviour is preserved exactly.</a:t>
            </a:r>
          </a:p>
        </p:txBody>
      </p:sp>
      <p:sp>
        <p:nvSpPr>
          <p:cNvPr id="17" name="TextBox 16"/>
          <p:cNvSpPr txBox="1"/>
          <p:nvPr/>
        </p:nvSpPr>
        <p:spPr>
          <a:xfrm>
            <a:off x="685800" y="6355080"/>
            <a:ext cx="7315200" cy="274320"/>
          </a:xfrm>
          <a:prstGeom prst="rect">
            <a:avLst/>
          </a:prstGeom>
          <a:noFill/>
        </p:spPr>
        <p:txBody>
          <a:bodyPr wrap="square" anchor="t" lIns="0" rIns="0" tIns="0" bIns="0">
            <a:spAutoFit/>
          </a:bodyPr>
          <a:lstStyle/>
          <a:p>
            <a:pPr algn="l">
              <a:spcBef>
                <a:spcPts val="0"/>
              </a:spcBef>
              <a:spcAft>
                <a:spcPts val="600"/>
              </a:spcAft>
            </a:pPr>
            <a:r>
              <a:rPr sz="900" b="0">
                <a:solidFill>
                  <a:srgbClr val="6B7480"/>
                </a:solidFill>
                <a:latin typeface="Segoe UI"/>
              </a:rPr>
              <a:t>Hybrid NPU + GPU Execution  ·  MorphiZen HIP EP</a:t>
            </a:r>
          </a:p>
        </p:txBody>
      </p:sp>
      <p:sp>
        <p:nvSpPr>
          <p:cNvPr id="18" name="TextBox 17"/>
          <p:cNvSpPr txBox="1"/>
          <p:nvPr/>
        </p:nvSpPr>
        <p:spPr>
          <a:xfrm>
            <a:off x="10881360" y="6355080"/>
            <a:ext cx="594360" cy="274320"/>
          </a:xfrm>
          <a:prstGeom prst="rect">
            <a:avLst/>
          </a:prstGeom>
          <a:noFill/>
        </p:spPr>
        <p:txBody>
          <a:bodyPr wrap="square" anchor="t" lIns="0" rIns="0" tIns="0" bIns="0">
            <a:spAutoFit/>
          </a:bodyPr>
          <a:lstStyle/>
          <a:p>
            <a:pPr algn="r">
              <a:spcBef>
                <a:spcPts val="0"/>
              </a:spcBef>
              <a:spcAft>
                <a:spcPts val="600"/>
              </a:spcAft>
            </a:pPr>
            <a:r>
              <a:rPr sz="900" b="0">
                <a:solidFill>
                  <a:srgbClr val="6B748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789920" cy="274320"/>
          </a:xfrm>
          <a:prstGeom prst="rect">
            <a:avLst/>
          </a:prstGeom>
          <a:noFill/>
        </p:spPr>
        <p:txBody>
          <a:bodyPr wrap="square" anchor="t" lIns="0" rIns="0" tIns="0" bIns="0">
            <a:spAutoFit/>
          </a:bodyPr>
          <a:lstStyle/>
          <a:p>
            <a:pPr algn="l">
              <a:spcBef>
                <a:spcPts val="0"/>
              </a:spcBef>
              <a:spcAft>
                <a:spcPts val="600"/>
              </a:spcAft>
            </a:pPr>
            <a:r>
              <a:rPr sz="1100" b="1">
                <a:solidFill>
                  <a:srgbClr val="6B7480"/>
                </a:solidFill>
                <a:latin typeface="Segoe UI"/>
              </a:rPr>
              <a:t>THE ENABLER</a:t>
            </a:r>
          </a:p>
        </p:txBody>
      </p:sp>
      <p:sp>
        <p:nvSpPr>
          <p:cNvPr id="3" name="TextBox 2"/>
          <p:cNvSpPr txBox="1"/>
          <p:nvPr/>
        </p:nvSpPr>
        <p:spPr>
          <a:xfrm>
            <a:off x="685800" y="658368"/>
            <a:ext cx="10789920" cy="548640"/>
          </a:xfrm>
          <a:prstGeom prst="rect">
            <a:avLst/>
          </a:prstGeom>
          <a:noFill/>
        </p:spPr>
        <p:txBody>
          <a:bodyPr wrap="square" anchor="t" lIns="0" rIns="0" tIns="0" bIns="0">
            <a:spAutoFit/>
          </a:bodyPr>
          <a:lstStyle/>
          <a:p>
            <a:pPr algn="l">
              <a:spcBef>
                <a:spcPts val="0"/>
              </a:spcBef>
              <a:spcAft>
                <a:spcPts val="600"/>
              </a:spcAft>
            </a:pPr>
            <a:r>
              <a:rPr sz="3000" b="1">
                <a:solidFill>
                  <a:srgbClr val="14181F"/>
                </a:solidFill>
                <a:latin typeface="Segoe UI"/>
              </a:rPr>
              <a:t>Why this is possible on this hardware</a:t>
            </a:r>
          </a:p>
        </p:txBody>
      </p:sp>
      <p:sp>
        <p:nvSpPr>
          <p:cNvPr id="4" name="Rectangle 3"/>
          <p:cNvSpPr/>
          <p:nvPr/>
        </p:nvSpPr>
        <p:spPr>
          <a:xfrm>
            <a:off x="685800" y="1316736"/>
            <a:ext cx="10789920" cy="1524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27048"/>
            <a:ext cx="10789920" cy="457200"/>
          </a:xfrm>
          <a:prstGeom prst="rect">
            <a:avLst/>
          </a:prstGeom>
          <a:noFill/>
        </p:spPr>
        <p:txBody>
          <a:bodyPr wrap="square" anchor="t" lIns="0" rIns="0" tIns="0" bIns="0">
            <a:spAutoFit/>
          </a:bodyPr>
          <a:lstStyle/>
          <a:p>
            <a:pPr algn="l">
              <a:spcBef>
                <a:spcPts val="0"/>
              </a:spcBef>
              <a:spcAft>
                <a:spcPts val="600"/>
              </a:spcAft>
            </a:pPr>
            <a:r>
              <a:rPr sz="1500" b="0">
                <a:solidFill>
                  <a:srgbClr val="333B47"/>
                </a:solidFill>
                <a:latin typeface="Segoe UI"/>
              </a:rPr>
              <a:t>On these processors the NPU, GPU and CPU share the </a:t>
            </a:r>
            <a:r>
              <a:rPr sz="1500" b="1">
                <a:solidFill>
                  <a:srgbClr val="14181F"/>
                </a:solidFill>
                <a:latin typeface="Segoe UI"/>
              </a:rPr>
              <a:t>same physical memory</a:t>
            </a:r>
            <a:r>
              <a:rPr sz="1500" b="0">
                <a:solidFill>
                  <a:srgbClr val="333B47"/>
                </a:solidFill>
                <a:latin typeface="Segoe UI"/>
              </a:rPr>
              <a:t>. That is what makes the split worth doing at all.</a:t>
            </a:r>
          </a:p>
        </p:txBody>
      </p:sp>
      <p:sp>
        <p:nvSpPr>
          <p:cNvPr id="6" name="Rounded Rectangle 5"/>
          <p:cNvSpPr/>
          <p:nvPr/>
        </p:nvSpPr>
        <p:spPr>
          <a:xfrm>
            <a:off x="685800" y="2258568"/>
            <a:ext cx="5212080" cy="2103120"/>
          </a:xfrm>
          <a:prstGeom prst="roundRect">
            <a:avLst>
              <a:gd name="adj" fmla="val 6000"/>
            </a:avLst>
          </a:prstGeom>
          <a:solidFill>
            <a:srgbClr val="FEF4F4"/>
          </a:solidFill>
          <a:ln w="1905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000" b="1">
                <a:solidFill>
                  <a:srgbClr val="B91C1C"/>
                </a:solidFill>
                <a:latin typeface="Segoe UI"/>
              </a:rPr>
              <a:t>ON A SEPARATE GRAPHICS CARD</a:t>
            </a:r>
          </a:p>
          <a:p>
            <a:pPr algn="l">
              <a:spcAft>
                <a:spcPts val="200"/>
              </a:spcAft>
            </a:pPr>
            <a:r>
              <a:rPr sz="1300" b="0">
                <a:solidFill>
                  <a:srgbClr val="333B47"/>
                </a:solidFill>
                <a:latin typeface="Segoe UI"/>
              </a:rPr>
              <a:t>Each processor owns its own memory.</a:t>
            </a:r>
          </a:p>
          <a:p>
            <a:pPr algn="l">
              <a:spcAft>
                <a:spcPts val="200"/>
              </a:spcAft>
            </a:pPr>
            <a:r>
              <a:rPr sz="1300" b="0">
                <a:solidFill>
                  <a:srgbClr val="333B47"/>
                </a:solidFill>
                <a:latin typeface="Segoe UI"/>
              </a:rPr>
              <a:t>Handing work over means copying the data across.</a:t>
            </a:r>
          </a:p>
          <a:p>
            <a:pPr algn="l">
              <a:spcAft>
                <a:spcPts val="200"/>
              </a:spcAft>
            </a:pPr>
            <a:r>
              <a:rPr sz="1300" b="1">
                <a:solidFill>
                  <a:srgbClr val="B91C1C"/>
                </a:solidFill>
                <a:latin typeface="Segoe UI"/>
              </a:rPr>
              <a:t>The copy costs more than the NPU saves.</a:t>
            </a:r>
          </a:p>
        </p:txBody>
      </p:sp>
      <p:sp>
        <p:nvSpPr>
          <p:cNvPr id="7" name="Rounded Rectangle 6"/>
          <p:cNvSpPr/>
          <p:nvPr/>
        </p:nvSpPr>
        <p:spPr>
          <a:xfrm>
            <a:off x="6263640" y="2258568"/>
            <a:ext cx="5212080" cy="2103120"/>
          </a:xfrm>
          <a:prstGeom prst="roundRect">
            <a:avLst>
              <a:gd name="adj" fmla="val 6000"/>
            </a:avLst>
          </a:prstGeom>
          <a:solidFill>
            <a:srgbClr val="ECFDF5"/>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000" b="1">
                <a:solidFill>
                  <a:srgbClr val="047857"/>
                </a:solidFill>
                <a:latin typeface="Segoe UI"/>
              </a:rPr>
              <a:t>ON THIS SHARED-MEMORY DESIGN</a:t>
            </a:r>
          </a:p>
          <a:p>
            <a:pPr algn="l">
              <a:spcAft>
                <a:spcPts val="200"/>
              </a:spcAft>
            </a:pPr>
            <a:r>
              <a:rPr sz="1300" b="0">
                <a:solidFill>
                  <a:srgbClr val="333B47"/>
                </a:solidFill>
                <a:latin typeface="Segoe UI"/>
              </a:rPr>
              <a:t>All three processors address one pool of memory.</a:t>
            </a:r>
          </a:p>
          <a:p>
            <a:pPr algn="l">
              <a:spcAft>
                <a:spcPts val="200"/>
              </a:spcAft>
            </a:pPr>
            <a:r>
              <a:rPr sz="1300" b="0">
                <a:solidFill>
                  <a:srgbClr val="333B47"/>
                </a:solidFill>
                <a:latin typeface="Segoe UI"/>
              </a:rPr>
              <a:t>Handing work over means agreeing where it is.</a:t>
            </a:r>
          </a:p>
          <a:p>
            <a:pPr algn="l">
              <a:spcAft>
                <a:spcPts val="200"/>
              </a:spcAft>
            </a:pPr>
            <a:r>
              <a:rPr sz="1300" b="1">
                <a:solidFill>
                  <a:srgbClr val="047857"/>
                </a:solidFill>
                <a:latin typeface="Segoe UI"/>
              </a:rPr>
              <a:t>Nothing moves, so the handoff is effectively free.</a:t>
            </a:r>
          </a:p>
        </p:txBody>
      </p:sp>
      <p:sp>
        <p:nvSpPr>
          <p:cNvPr id="8" name="Rounded Rectangle 7"/>
          <p:cNvSpPr/>
          <p:nvPr/>
        </p:nvSpPr>
        <p:spPr>
          <a:xfrm>
            <a:off x="685800" y="4636008"/>
            <a:ext cx="10789920" cy="914400"/>
          </a:xfrm>
          <a:prstGeom prst="roundRect">
            <a:avLst>
              <a:gd name="adj" fmla="val 6000"/>
            </a:avLst>
          </a:prstGeom>
          <a:solidFill>
            <a:srgbClr val="F8FAFC"/>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200" b="1">
                <a:solidFill>
                  <a:srgbClr val="14181F"/>
                </a:solidFill>
                <a:latin typeface="Segoe UI"/>
              </a:rPr>
              <a:t>The catch we designed around</a:t>
            </a:r>
          </a:p>
          <a:p>
            <a:pPr algn="l">
              <a:spcAft>
                <a:spcPts val="200"/>
              </a:spcAft>
            </a:pPr>
            <a:r>
              <a:rPr sz="1200" b="0">
                <a:solidFill>
                  <a:srgbClr val="333B47"/>
                </a:solidFill>
                <a:latin typeface="Segoe UI"/>
              </a:rPr>
              <a:t>Shared memory does not mean every processor can reach every buffer automatically. Access is granted by how memory is allocated, so we verify provenance rather than trusting that a read happens to work.</a:t>
            </a: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spcBef>
                <a:spcPts val="0"/>
              </a:spcBef>
              <a:spcAft>
                <a:spcPts val="600"/>
              </a:spcAft>
            </a:pPr>
            <a:r>
              <a:rPr sz="900" b="0">
                <a:solidFill>
                  <a:srgbClr val="6B7480"/>
                </a:solidFill>
                <a:latin typeface="Segoe UI"/>
              </a:rPr>
              <a:t>Hybrid NPU + GPU Execution  ·  MorphiZen HIP EP</a:t>
            </a:r>
          </a:p>
        </p:txBody>
      </p:sp>
      <p:sp>
        <p:nvSpPr>
          <p:cNvPr id="10" name="TextBox 9"/>
          <p:cNvSpPr txBox="1"/>
          <p:nvPr/>
        </p:nvSpPr>
        <p:spPr>
          <a:xfrm>
            <a:off x="10881360" y="6355080"/>
            <a:ext cx="594360" cy="274320"/>
          </a:xfrm>
          <a:prstGeom prst="rect">
            <a:avLst/>
          </a:prstGeom>
          <a:noFill/>
        </p:spPr>
        <p:txBody>
          <a:bodyPr wrap="square" anchor="t" lIns="0" rIns="0" tIns="0" bIns="0">
            <a:spAutoFit/>
          </a:bodyPr>
          <a:lstStyle/>
          <a:p>
            <a:pPr algn="r">
              <a:spcBef>
                <a:spcPts val="0"/>
              </a:spcBef>
              <a:spcAft>
                <a:spcPts val="600"/>
              </a:spcAft>
            </a:pPr>
            <a:r>
              <a:rPr sz="900" b="0">
                <a:solidFill>
                  <a:srgbClr val="6B748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789920" cy="274320"/>
          </a:xfrm>
          <a:prstGeom prst="rect">
            <a:avLst/>
          </a:prstGeom>
          <a:noFill/>
        </p:spPr>
        <p:txBody>
          <a:bodyPr wrap="square" anchor="t" lIns="0" rIns="0" tIns="0" bIns="0">
            <a:spAutoFit/>
          </a:bodyPr>
          <a:lstStyle/>
          <a:p>
            <a:pPr algn="l">
              <a:spcBef>
                <a:spcPts val="0"/>
              </a:spcBef>
              <a:spcAft>
                <a:spcPts val="600"/>
              </a:spcAft>
            </a:pPr>
            <a:r>
              <a:rPr sz="1100" b="1">
                <a:solidFill>
                  <a:srgbClr val="6B7480"/>
                </a:solidFill>
                <a:latin typeface="Segoe UI"/>
              </a:rPr>
              <a:t>THE CONSTRAINT</a:t>
            </a:r>
          </a:p>
        </p:txBody>
      </p:sp>
      <p:sp>
        <p:nvSpPr>
          <p:cNvPr id="3" name="TextBox 2"/>
          <p:cNvSpPr txBox="1"/>
          <p:nvPr/>
        </p:nvSpPr>
        <p:spPr>
          <a:xfrm>
            <a:off x="685800" y="658368"/>
            <a:ext cx="10789920" cy="548640"/>
          </a:xfrm>
          <a:prstGeom prst="rect">
            <a:avLst/>
          </a:prstGeom>
          <a:noFill/>
        </p:spPr>
        <p:txBody>
          <a:bodyPr wrap="square" anchor="t" lIns="0" rIns="0" tIns="0" bIns="0">
            <a:spAutoFit/>
          </a:bodyPr>
          <a:lstStyle/>
          <a:p>
            <a:pPr algn="l">
              <a:spcBef>
                <a:spcPts val="0"/>
              </a:spcBef>
              <a:spcAft>
                <a:spcPts val="600"/>
              </a:spcAft>
            </a:pPr>
            <a:r>
              <a:rPr sz="3000" b="1">
                <a:solidFill>
                  <a:srgbClr val="14181F"/>
                </a:solidFill>
                <a:latin typeface="Segoe UI"/>
              </a:rPr>
              <a:t>One non-negotiable requirement</a:t>
            </a:r>
          </a:p>
        </p:txBody>
      </p:sp>
      <p:sp>
        <p:nvSpPr>
          <p:cNvPr id="4" name="Rectangle 3"/>
          <p:cNvSpPr/>
          <p:nvPr/>
        </p:nvSpPr>
        <p:spPr>
          <a:xfrm>
            <a:off x="685800" y="1316736"/>
            <a:ext cx="10789920" cy="1524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527048"/>
            <a:ext cx="10789920" cy="914400"/>
          </a:xfrm>
          <a:prstGeom prst="roundRect">
            <a:avLst>
              <a:gd name="adj" fmla="val 6000"/>
            </a:avLst>
          </a:prstGeom>
          <a:solidFill>
            <a:srgbClr val="FEF4F4"/>
          </a:solidFill>
          <a:ln w="254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2000" b="1">
                <a:solidFill>
                  <a:srgbClr val="14181F"/>
                </a:solidFill>
                <a:latin typeface="Segoe UI"/>
              </a:rPr>
              <a:t>No data is copied when execution moves between the NPU and the GPU.</a:t>
            </a:r>
          </a:p>
        </p:txBody>
      </p:sp>
      <p:sp>
        <p:nvSpPr>
          <p:cNvPr id="6" name="TextBox 5"/>
          <p:cNvSpPr txBox="1"/>
          <p:nvPr/>
        </p:nvSpPr>
        <p:spPr>
          <a:xfrm>
            <a:off x="685800" y="2715768"/>
            <a:ext cx="10789920" cy="365760"/>
          </a:xfrm>
          <a:prstGeom prst="rect">
            <a:avLst/>
          </a:prstGeom>
          <a:noFill/>
        </p:spPr>
        <p:txBody>
          <a:bodyPr wrap="square" anchor="t" lIns="0" rIns="0" tIns="0" bIns="0">
            <a:spAutoFit/>
          </a:bodyPr>
          <a:lstStyle/>
          <a:p>
            <a:pPr algn="l">
              <a:spcBef>
                <a:spcPts val="0"/>
              </a:spcBef>
              <a:spcAft>
                <a:spcPts val="600"/>
              </a:spcAft>
            </a:pPr>
            <a:r>
              <a:rPr sz="1500" b="1">
                <a:solidFill>
                  <a:srgbClr val="14181F"/>
                </a:solidFill>
                <a:latin typeface="Segoe UI"/>
              </a:rPr>
              <a:t>Why it is a requirement and not a goal: </a:t>
            </a:r>
            <a:r>
              <a:rPr sz="1500" b="0">
                <a:solidFill>
                  <a:srgbClr val="333B47"/>
                </a:solidFill>
                <a:latin typeface="Segoe UI"/>
              </a:rPr>
              <a:t>the shared data is the largest item in the system and grows with conversation length. Copying it would erase the benefit entirely.</a:t>
            </a:r>
          </a:p>
        </p:txBody>
      </p:sp>
      <p:sp>
        <p:nvSpPr>
          <p:cNvPr id="7" name="Rounded Rectangle 6"/>
          <p:cNvSpPr/>
          <p:nvPr/>
        </p:nvSpPr>
        <p:spPr>
          <a:xfrm>
            <a:off x="685800" y="3401568"/>
            <a:ext cx="3429000" cy="1828800"/>
          </a:xfrm>
          <a:prstGeom prst="roundRect">
            <a:avLst>
              <a:gd name="adj" fmla="val 6000"/>
            </a:avLst>
          </a:prstGeom>
          <a:solidFill>
            <a:srgbClr val="FFFFFF"/>
          </a:solidFill>
          <a:ln w="1524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14181F"/>
                </a:solidFill>
                <a:latin typeface="Segoe UI"/>
              </a:rPr>
              <a:t>The failure mode is silence</a:t>
            </a:r>
          </a:p>
          <a:p>
            <a:pPr algn="l">
              <a:spcAft>
                <a:spcPts val="200"/>
              </a:spcAft>
            </a:pPr>
            <a:r>
              <a:rPr sz="1200" b="0">
                <a:solidFill>
                  <a:srgbClr val="333B47"/>
                </a:solidFill>
                <a:latin typeface="Segoe UI"/>
              </a:rPr>
              <a:t>A copy still produces the correct answer. It only shows up as lost performance, so testing accuracy can never find it.</a:t>
            </a:r>
          </a:p>
        </p:txBody>
      </p:sp>
      <p:sp>
        <p:nvSpPr>
          <p:cNvPr id="8" name="Rounded Rectangle 7"/>
          <p:cNvSpPr/>
          <p:nvPr/>
        </p:nvSpPr>
        <p:spPr>
          <a:xfrm>
            <a:off x="4370832" y="3401568"/>
            <a:ext cx="3429000" cy="1828800"/>
          </a:xfrm>
          <a:prstGeom prst="roundRect">
            <a:avLst>
              <a:gd name="adj" fmla="val 6000"/>
            </a:avLst>
          </a:prstGeom>
          <a:solidFill>
            <a:srgbClr val="FFFFFF"/>
          </a:solidFill>
          <a:ln w="1524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14181F"/>
                </a:solidFill>
                <a:latin typeface="Segoe UI"/>
              </a:rPr>
              <a:t>So it is enforced, not reviewed</a:t>
            </a:r>
          </a:p>
          <a:p>
            <a:pPr algn="l">
              <a:spcAft>
                <a:spcPts val="200"/>
              </a:spcAft>
            </a:pPr>
            <a:r>
              <a:rPr sz="1200" b="0">
                <a:solidFill>
                  <a:srgbClr val="333B47"/>
                </a:solidFill>
                <a:latin typeface="Segoe UI"/>
              </a:rPr>
              <a:t>Memory is accepted only from approved sources, and every test counts the copies and requires the count to be zero.</a:t>
            </a:r>
          </a:p>
        </p:txBody>
      </p:sp>
      <p:sp>
        <p:nvSpPr>
          <p:cNvPr id="9" name="Rounded Rectangle 8"/>
          <p:cNvSpPr/>
          <p:nvPr/>
        </p:nvSpPr>
        <p:spPr>
          <a:xfrm>
            <a:off x="8055864" y="3401568"/>
            <a:ext cx="3429000" cy="1828800"/>
          </a:xfrm>
          <a:prstGeom prst="roundRect">
            <a:avLst>
              <a:gd name="adj" fmla="val 6000"/>
            </a:avLst>
          </a:prstGeom>
          <a:solidFill>
            <a:srgbClr val="FFFFFF"/>
          </a:solidFill>
          <a:ln w="1524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14181F"/>
                </a:solidFill>
                <a:latin typeface="Segoe UI"/>
              </a:rPr>
              <a:t>And it is a stop condition</a:t>
            </a:r>
          </a:p>
          <a:p>
            <a:pPr algn="l">
              <a:spcAft>
                <a:spcPts val="200"/>
              </a:spcAft>
            </a:pPr>
            <a:r>
              <a:rPr sz="1200" b="0">
                <a:solidFill>
                  <a:srgbClr val="333B47"/>
                </a:solidFill>
                <a:latin typeface="Segoe UI"/>
              </a:rPr>
              <a:t>If no approach achieves it, we escalate and revisit the architecture rather than ship a version that copies.</a:t>
            </a:r>
          </a:p>
        </p:txBody>
      </p:sp>
      <p:sp>
        <p:nvSpPr>
          <p:cNvPr id="10" name="TextBox 9"/>
          <p:cNvSpPr txBox="1"/>
          <p:nvPr/>
        </p:nvSpPr>
        <p:spPr>
          <a:xfrm>
            <a:off x="685800" y="6355080"/>
            <a:ext cx="7315200" cy="274320"/>
          </a:xfrm>
          <a:prstGeom prst="rect">
            <a:avLst/>
          </a:prstGeom>
          <a:noFill/>
        </p:spPr>
        <p:txBody>
          <a:bodyPr wrap="square" anchor="t" lIns="0" rIns="0" tIns="0" bIns="0">
            <a:spAutoFit/>
          </a:bodyPr>
          <a:lstStyle/>
          <a:p>
            <a:pPr algn="l">
              <a:spcBef>
                <a:spcPts val="0"/>
              </a:spcBef>
              <a:spcAft>
                <a:spcPts val="600"/>
              </a:spcAft>
            </a:pPr>
            <a:r>
              <a:rPr sz="900" b="0">
                <a:solidFill>
                  <a:srgbClr val="6B7480"/>
                </a:solidFill>
                <a:latin typeface="Segoe UI"/>
              </a:rPr>
              <a:t>Hybrid NPU + GPU Execution  ·  MorphiZen HIP EP</a:t>
            </a:r>
          </a:p>
        </p:txBody>
      </p:sp>
      <p:sp>
        <p:nvSpPr>
          <p:cNvPr id="11" name="TextBox 10"/>
          <p:cNvSpPr txBox="1"/>
          <p:nvPr/>
        </p:nvSpPr>
        <p:spPr>
          <a:xfrm>
            <a:off x="10881360" y="6355080"/>
            <a:ext cx="594360" cy="274320"/>
          </a:xfrm>
          <a:prstGeom prst="rect">
            <a:avLst/>
          </a:prstGeom>
          <a:noFill/>
        </p:spPr>
        <p:txBody>
          <a:bodyPr wrap="square" anchor="t" lIns="0" rIns="0" tIns="0" bIns="0">
            <a:spAutoFit/>
          </a:bodyPr>
          <a:lstStyle/>
          <a:p>
            <a:pPr algn="r">
              <a:spcBef>
                <a:spcPts val="0"/>
              </a:spcBef>
              <a:spcAft>
                <a:spcPts val="600"/>
              </a:spcAft>
            </a:pPr>
            <a:r>
              <a:rPr sz="900" b="0">
                <a:solidFill>
                  <a:srgbClr val="6B748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789920" cy="274320"/>
          </a:xfrm>
          <a:prstGeom prst="rect">
            <a:avLst/>
          </a:prstGeom>
          <a:noFill/>
        </p:spPr>
        <p:txBody>
          <a:bodyPr wrap="square" anchor="t" lIns="0" rIns="0" tIns="0" bIns="0">
            <a:spAutoFit/>
          </a:bodyPr>
          <a:lstStyle/>
          <a:p>
            <a:pPr algn="l">
              <a:spcBef>
                <a:spcPts val="0"/>
              </a:spcBef>
              <a:spcAft>
                <a:spcPts val="600"/>
              </a:spcAft>
            </a:pPr>
            <a:r>
              <a:rPr sz="1100" b="1">
                <a:solidFill>
                  <a:srgbClr val="6B7480"/>
                </a:solidFill>
                <a:latin typeface="Segoe UI"/>
              </a:rPr>
              <a:t>IMPLEMENTATION</a:t>
            </a:r>
          </a:p>
        </p:txBody>
      </p:sp>
      <p:sp>
        <p:nvSpPr>
          <p:cNvPr id="3" name="TextBox 2"/>
          <p:cNvSpPr txBox="1"/>
          <p:nvPr/>
        </p:nvSpPr>
        <p:spPr>
          <a:xfrm>
            <a:off x="685800" y="658368"/>
            <a:ext cx="10789920" cy="548640"/>
          </a:xfrm>
          <a:prstGeom prst="rect">
            <a:avLst/>
          </a:prstGeom>
          <a:noFill/>
        </p:spPr>
        <p:txBody>
          <a:bodyPr wrap="square" anchor="t" lIns="0" rIns="0" tIns="0" bIns="0">
            <a:spAutoFit/>
          </a:bodyPr>
          <a:lstStyle/>
          <a:p>
            <a:pPr algn="l">
              <a:spcBef>
                <a:spcPts val="0"/>
              </a:spcBef>
              <a:spcAft>
                <a:spcPts val="600"/>
              </a:spcAft>
            </a:pPr>
            <a:r>
              <a:rPr sz="3000" b="1">
                <a:solidFill>
                  <a:srgbClr val="14181F"/>
                </a:solidFill>
                <a:latin typeface="Segoe UI"/>
              </a:rPr>
              <a:t>What we are building</a:t>
            </a:r>
          </a:p>
        </p:txBody>
      </p:sp>
      <p:sp>
        <p:nvSpPr>
          <p:cNvPr id="4" name="Rectangle 3"/>
          <p:cNvSpPr/>
          <p:nvPr/>
        </p:nvSpPr>
        <p:spPr>
          <a:xfrm>
            <a:off x="685800" y="1316736"/>
            <a:ext cx="10789920" cy="1524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27048"/>
            <a:ext cx="10789920" cy="365760"/>
          </a:xfrm>
          <a:prstGeom prst="rect">
            <a:avLst/>
          </a:prstGeom>
          <a:noFill/>
        </p:spPr>
        <p:txBody>
          <a:bodyPr wrap="square" anchor="t" lIns="0" rIns="0" tIns="0" bIns="0">
            <a:spAutoFit/>
          </a:bodyPr>
          <a:lstStyle/>
          <a:p>
            <a:pPr algn="l">
              <a:spcBef>
                <a:spcPts val="0"/>
              </a:spcBef>
              <a:spcAft>
                <a:spcPts val="600"/>
              </a:spcAft>
            </a:pPr>
            <a:r>
              <a:rPr sz="1500" b="0">
                <a:solidFill>
                  <a:srgbClr val="333B47"/>
                </a:solidFill>
                <a:latin typeface="Segoe UI"/>
              </a:rPr>
              <a:t>Six additions. The existing GPU compiler and runtime are extended, not replaced.</a:t>
            </a:r>
          </a:p>
        </p:txBody>
      </p:sp>
      <p:sp>
        <p:nvSpPr>
          <p:cNvPr id="6" name="Rounded Rectangle 5"/>
          <p:cNvSpPr/>
          <p:nvPr/>
        </p:nvSpPr>
        <p:spPr>
          <a:xfrm>
            <a:off x="685800" y="2167128"/>
            <a:ext cx="3429000" cy="1325880"/>
          </a:xfrm>
          <a:prstGeom prst="roundRect">
            <a:avLst>
              <a:gd name="adj" fmla="val 6000"/>
            </a:avLst>
          </a:prstGeom>
          <a:solidFill>
            <a:srgbClr val="FFFFFF"/>
          </a:solidFill>
          <a:ln w="1524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B45309"/>
                </a:solidFill>
                <a:latin typeface="Segoe UI"/>
              </a:rPr>
              <a:t>Compatibility layer</a:t>
            </a:r>
          </a:p>
          <a:p>
            <a:pPr algn="l">
              <a:spcAft>
                <a:spcPts val="200"/>
              </a:spcAft>
            </a:pPr>
            <a:r>
              <a:rPr sz="1150" b="0">
                <a:solidFill>
                  <a:srgbClr val="333B47"/>
                </a:solidFill>
                <a:latin typeface="Segoe UI"/>
              </a:rPr>
              <a:t>A thin boundary to the NPU software stack, isolating its dependencies from ours.</a:t>
            </a:r>
          </a:p>
        </p:txBody>
      </p:sp>
      <p:sp>
        <p:nvSpPr>
          <p:cNvPr id="7" name="Rounded Rectangle 6"/>
          <p:cNvSpPr/>
          <p:nvPr/>
        </p:nvSpPr>
        <p:spPr>
          <a:xfrm>
            <a:off x="4370832" y="2167128"/>
            <a:ext cx="3429000" cy="1325880"/>
          </a:xfrm>
          <a:prstGeom prst="roundRect">
            <a:avLst>
              <a:gd name="adj" fmla="val 6000"/>
            </a:avLst>
          </a:prstGeom>
          <a:solidFill>
            <a:srgbClr val="FFFFFF"/>
          </a:solidFill>
          <a:ln w="1524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B45309"/>
                </a:solidFill>
                <a:latin typeface="Segoe UI"/>
              </a:rPr>
              <a:t>Substitute for testing</a:t>
            </a:r>
          </a:p>
          <a:p>
            <a:pPr algn="l">
              <a:spcAft>
                <a:spcPts val="200"/>
              </a:spcAft>
            </a:pPr>
            <a:r>
              <a:rPr sz="1150" b="0">
                <a:solidFill>
                  <a:srgbClr val="333B47"/>
                </a:solidFill>
                <a:latin typeface="Segoe UI"/>
              </a:rPr>
              <a:t>A stand-in for the NPU so most work is verified without hardware.</a:t>
            </a:r>
          </a:p>
        </p:txBody>
      </p:sp>
      <p:sp>
        <p:nvSpPr>
          <p:cNvPr id="8" name="Rounded Rectangle 7"/>
          <p:cNvSpPr/>
          <p:nvPr/>
        </p:nvSpPr>
        <p:spPr>
          <a:xfrm>
            <a:off x="8055864" y="2167128"/>
            <a:ext cx="3429000" cy="1325880"/>
          </a:xfrm>
          <a:prstGeom prst="roundRect">
            <a:avLst>
              <a:gd name="adj" fmla="val 6000"/>
            </a:avLst>
          </a:prstGeom>
          <a:solidFill>
            <a:srgbClr val="FFFFFF"/>
          </a:solidFill>
          <a:ln w="1524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047857"/>
                </a:solidFill>
                <a:latin typeface="Segoe UI"/>
              </a:rPr>
              <a:t>Shared memory pool</a:t>
            </a:r>
          </a:p>
          <a:p>
            <a:pPr algn="l">
              <a:spcAft>
                <a:spcPts val="200"/>
              </a:spcAft>
            </a:pPr>
            <a:r>
              <a:rPr sz="1150" b="0">
                <a:solidFill>
                  <a:srgbClr val="333B47"/>
                </a:solidFill>
                <a:latin typeface="Segoe UI"/>
              </a:rPr>
              <a:t>Working space the NPU can reach, alongside the memory we already manage.</a:t>
            </a:r>
          </a:p>
        </p:txBody>
      </p:sp>
      <p:sp>
        <p:nvSpPr>
          <p:cNvPr id="9" name="Rounded Rectangle 8"/>
          <p:cNvSpPr/>
          <p:nvPr/>
        </p:nvSpPr>
        <p:spPr>
          <a:xfrm>
            <a:off x="685800" y="3675887"/>
            <a:ext cx="3429000" cy="1325880"/>
          </a:xfrm>
          <a:prstGeom prst="roundRect">
            <a:avLst>
              <a:gd name="adj" fmla="val 6000"/>
            </a:avLst>
          </a:prstGeom>
          <a:solidFill>
            <a:srgbClr val="FFFFFF"/>
          </a:solidFill>
          <a:ln w="1524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047857"/>
                </a:solidFill>
                <a:latin typeface="Segoe UI"/>
              </a:rPr>
              <a:t>Provenance registry</a:t>
            </a:r>
          </a:p>
          <a:p>
            <a:pPr algn="l">
              <a:spcAft>
                <a:spcPts val="200"/>
              </a:spcAft>
            </a:pPr>
            <a:r>
              <a:rPr sz="1150" b="0">
                <a:solidFill>
                  <a:srgbClr val="333B47"/>
                </a:solidFill>
                <a:latin typeface="Segoe UI"/>
              </a:rPr>
              <a:t>Records where every buffer came from, so an invalid one is rejected outright.</a:t>
            </a:r>
          </a:p>
        </p:txBody>
      </p:sp>
      <p:sp>
        <p:nvSpPr>
          <p:cNvPr id="10" name="Rounded Rectangle 9"/>
          <p:cNvSpPr/>
          <p:nvPr/>
        </p:nvSpPr>
        <p:spPr>
          <a:xfrm>
            <a:off x="4370832" y="3675887"/>
            <a:ext cx="3429000" cy="1325880"/>
          </a:xfrm>
          <a:prstGeom prst="roundRect">
            <a:avLst>
              <a:gd name="adj" fmla="val 6000"/>
            </a:avLst>
          </a:prstGeom>
          <a:solidFill>
            <a:srgbClr val="FFFFFF"/>
          </a:solidFill>
          <a:ln w="1524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1D4ED8"/>
                </a:solidFill>
                <a:latin typeface="Segoe UI"/>
              </a:rPr>
              <a:t>Compiler output</a:t>
            </a:r>
          </a:p>
          <a:p>
            <a:pPr algn="l">
              <a:spcAft>
                <a:spcPts val="200"/>
              </a:spcAft>
            </a:pPr>
            <a:r>
              <a:rPr sz="1150" b="0">
                <a:solidFill>
                  <a:srgbClr val="333B47"/>
                </a:solidFill>
                <a:latin typeface="Segoe UI"/>
              </a:rPr>
              <a:t>Turns a claimed model into a sequence of NPU operations, or declines it.</a:t>
            </a:r>
          </a:p>
        </p:txBody>
      </p:sp>
      <p:sp>
        <p:nvSpPr>
          <p:cNvPr id="11" name="Rounded Rectangle 10"/>
          <p:cNvSpPr/>
          <p:nvPr/>
        </p:nvSpPr>
        <p:spPr>
          <a:xfrm>
            <a:off x="8055864" y="3675887"/>
            <a:ext cx="3429000" cy="1325880"/>
          </a:xfrm>
          <a:prstGeom prst="roundRect">
            <a:avLst>
              <a:gd name="adj" fmla="val 6000"/>
            </a:avLst>
          </a:prstGeom>
          <a:solidFill>
            <a:srgbClr val="FFFFFF"/>
          </a:solidFill>
          <a:ln w="1524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1D4ED8"/>
                </a:solidFill>
                <a:latin typeface="Segoe UI"/>
              </a:rPr>
              <a:t>Runtime executor</a:t>
            </a:r>
          </a:p>
          <a:p>
            <a:pPr algn="l">
              <a:spcAft>
                <a:spcPts val="200"/>
              </a:spcAft>
            </a:pPr>
            <a:r>
              <a:rPr sz="1150" b="0">
                <a:solidFill>
                  <a:srgbClr val="333B47"/>
                </a:solidFill>
                <a:latin typeface="Segoe UI"/>
              </a:rPr>
              <a:t>Carries out that sequence, and falls back safely to the GPU at any point.</a:t>
            </a:r>
          </a:p>
        </p:txBody>
      </p:sp>
      <p:sp>
        <p:nvSpPr>
          <p:cNvPr id="12" name="Rounded Rectangle 11"/>
          <p:cNvSpPr/>
          <p:nvPr/>
        </p:nvSpPr>
        <p:spPr>
          <a:xfrm>
            <a:off x="685800" y="5230368"/>
            <a:ext cx="10789920" cy="777240"/>
          </a:xfrm>
          <a:prstGeom prst="roundRect">
            <a:avLst>
              <a:gd name="adj" fmla="val 6000"/>
            </a:avLst>
          </a:prstGeom>
          <a:solidFill>
            <a:srgbClr val="F8FAFC"/>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14181F"/>
                </a:solidFill>
                <a:latin typeface="Segoe UI"/>
              </a:rPr>
              <a:t>Deliberate choice: most of this is verifiable on an ordinary developer machine. Only correctness and performance need the NPU.</a:t>
            </a:r>
          </a:p>
        </p:txBody>
      </p:sp>
      <p:sp>
        <p:nvSpPr>
          <p:cNvPr id="13" name="TextBox 12"/>
          <p:cNvSpPr txBox="1"/>
          <p:nvPr/>
        </p:nvSpPr>
        <p:spPr>
          <a:xfrm>
            <a:off x="685800" y="6355080"/>
            <a:ext cx="7315200" cy="274320"/>
          </a:xfrm>
          <a:prstGeom prst="rect">
            <a:avLst/>
          </a:prstGeom>
          <a:noFill/>
        </p:spPr>
        <p:txBody>
          <a:bodyPr wrap="square" anchor="t" lIns="0" rIns="0" tIns="0" bIns="0">
            <a:spAutoFit/>
          </a:bodyPr>
          <a:lstStyle/>
          <a:p>
            <a:pPr algn="l">
              <a:spcBef>
                <a:spcPts val="0"/>
              </a:spcBef>
              <a:spcAft>
                <a:spcPts val="600"/>
              </a:spcAft>
            </a:pPr>
            <a:r>
              <a:rPr sz="900" b="0">
                <a:solidFill>
                  <a:srgbClr val="6B7480"/>
                </a:solidFill>
                <a:latin typeface="Segoe UI"/>
              </a:rPr>
              <a:t>Hybrid NPU + GPU Execution  ·  MorphiZen HIP EP</a:t>
            </a:r>
          </a:p>
        </p:txBody>
      </p:sp>
      <p:sp>
        <p:nvSpPr>
          <p:cNvPr id="14" name="TextBox 13"/>
          <p:cNvSpPr txBox="1"/>
          <p:nvPr/>
        </p:nvSpPr>
        <p:spPr>
          <a:xfrm>
            <a:off x="10881360" y="6355080"/>
            <a:ext cx="594360" cy="274320"/>
          </a:xfrm>
          <a:prstGeom prst="rect">
            <a:avLst/>
          </a:prstGeom>
          <a:noFill/>
        </p:spPr>
        <p:txBody>
          <a:bodyPr wrap="square" anchor="t" lIns="0" rIns="0" tIns="0" bIns="0">
            <a:spAutoFit/>
          </a:bodyPr>
          <a:lstStyle/>
          <a:p>
            <a:pPr algn="r">
              <a:spcBef>
                <a:spcPts val="0"/>
              </a:spcBef>
              <a:spcAft>
                <a:spcPts val="600"/>
              </a:spcAft>
            </a:pPr>
            <a:r>
              <a:rPr sz="900" b="0">
                <a:solidFill>
                  <a:srgbClr val="6B748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789920" cy="274320"/>
          </a:xfrm>
          <a:prstGeom prst="rect">
            <a:avLst/>
          </a:prstGeom>
          <a:noFill/>
        </p:spPr>
        <p:txBody>
          <a:bodyPr wrap="square" anchor="t" lIns="0" rIns="0" tIns="0" bIns="0">
            <a:spAutoFit/>
          </a:bodyPr>
          <a:lstStyle/>
          <a:p>
            <a:pPr algn="l">
              <a:spcBef>
                <a:spcPts val="0"/>
              </a:spcBef>
              <a:spcAft>
                <a:spcPts val="600"/>
              </a:spcAft>
            </a:pPr>
            <a:r>
              <a:rPr sz="1100" b="1">
                <a:solidFill>
                  <a:srgbClr val="6B7480"/>
                </a:solidFill>
                <a:latin typeface="Segoe UI"/>
              </a:rPr>
              <a:t>SEQUENCING</a:t>
            </a:r>
          </a:p>
        </p:txBody>
      </p:sp>
      <p:sp>
        <p:nvSpPr>
          <p:cNvPr id="3" name="TextBox 2"/>
          <p:cNvSpPr txBox="1"/>
          <p:nvPr/>
        </p:nvSpPr>
        <p:spPr>
          <a:xfrm>
            <a:off x="685800" y="658368"/>
            <a:ext cx="10789920" cy="548640"/>
          </a:xfrm>
          <a:prstGeom prst="rect">
            <a:avLst/>
          </a:prstGeom>
          <a:noFill/>
        </p:spPr>
        <p:txBody>
          <a:bodyPr wrap="square" anchor="t" lIns="0" rIns="0" tIns="0" bIns="0">
            <a:spAutoFit/>
          </a:bodyPr>
          <a:lstStyle/>
          <a:p>
            <a:pPr algn="l">
              <a:spcBef>
                <a:spcPts val="0"/>
              </a:spcBef>
              <a:spcAft>
                <a:spcPts val="600"/>
              </a:spcAft>
            </a:pPr>
            <a:r>
              <a:rPr sz="3000" b="1">
                <a:solidFill>
                  <a:srgbClr val="14181F"/>
                </a:solidFill>
                <a:latin typeface="Segoe UI"/>
              </a:rPr>
              <a:t>Delivery plan</a:t>
            </a:r>
          </a:p>
        </p:txBody>
      </p:sp>
      <p:sp>
        <p:nvSpPr>
          <p:cNvPr id="4" name="Rectangle 3"/>
          <p:cNvSpPr/>
          <p:nvPr/>
        </p:nvSpPr>
        <p:spPr>
          <a:xfrm>
            <a:off x="685800" y="1316736"/>
            <a:ext cx="10789920" cy="1524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27048"/>
            <a:ext cx="10789920" cy="365760"/>
          </a:xfrm>
          <a:prstGeom prst="rect">
            <a:avLst/>
          </a:prstGeom>
          <a:noFill/>
        </p:spPr>
        <p:txBody>
          <a:bodyPr wrap="square" anchor="t" lIns="0" rIns="0" tIns="0" bIns="0">
            <a:spAutoFit/>
          </a:bodyPr>
          <a:lstStyle/>
          <a:p>
            <a:pPr algn="l">
              <a:spcBef>
                <a:spcPts val="0"/>
              </a:spcBef>
              <a:spcAft>
                <a:spcPts val="600"/>
              </a:spcAft>
            </a:pPr>
            <a:r>
              <a:rPr sz="1500" b="0">
                <a:solidFill>
                  <a:srgbClr val="333B47"/>
                </a:solidFill>
                <a:latin typeface="Segoe UI"/>
              </a:rPr>
              <a:t>Nine stages. Every stage carries at least one formal checkpoint that must be signed off before the next begins.</a:t>
            </a:r>
          </a:p>
        </p:txBody>
      </p:sp>
      <p:sp>
        <p:nvSpPr>
          <p:cNvPr id="6" name="Rounded Rectangle 5"/>
          <p:cNvSpPr/>
          <p:nvPr/>
        </p:nvSpPr>
        <p:spPr>
          <a:xfrm>
            <a:off x="685800" y="2093976"/>
            <a:ext cx="530352" cy="365760"/>
          </a:xfrm>
          <a:prstGeom prst="roundRect">
            <a:avLst>
              <a:gd name="adj" fmla="val 6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400" b="1">
                <a:solidFill>
                  <a:srgbClr val="FFFFFF"/>
                </a:solidFill>
                <a:latin typeface="Segoe UI"/>
              </a:rPr>
              <a:t>0</a:t>
            </a:r>
          </a:p>
        </p:txBody>
      </p:sp>
      <p:sp>
        <p:nvSpPr>
          <p:cNvPr id="7" name="TextBox 6"/>
          <p:cNvSpPr txBox="1"/>
          <p:nvPr/>
        </p:nvSpPr>
        <p:spPr>
          <a:xfrm>
            <a:off x="1371600" y="2148840"/>
            <a:ext cx="6035040" cy="292608"/>
          </a:xfrm>
          <a:prstGeom prst="rect">
            <a:avLst/>
          </a:prstGeom>
          <a:noFill/>
        </p:spPr>
        <p:txBody>
          <a:bodyPr wrap="square" anchor="t" lIns="0" rIns="0" tIns="0" bIns="0">
            <a:spAutoFit/>
          </a:bodyPr>
          <a:lstStyle/>
          <a:p>
            <a:pPr algn="l">
              <a:spcBef>
                <a:spcPts val="0"/>
              </a:spcBef>
              <a:spcAft>
                <a:spcPts val="600"/>
              </a:spcAft>
            </a:pPr>
            <a:r>
              <a:rPr sz="1400" b="0">
                <a:solidFill>
                  <a:srgbClr val="333B47"/>
                </a:solidFill>
                <a:latin typeface="Segoe UI"/>
              </a:rPr>
              <a:t>Prove the risky assumptions</a:t>
            </a:r>
          </a:p>
        </p:txBody>
      </p:sp>
      <p:sp>
        <p:nvSpPr>
          <p:cNvPr id="8" name="Rounded Rectangle 7"/>
          <p:cNvSpPr/>
          <p:nvPr/>
        </p:nvSpPr>
        <p:spPr>
          <a:xfrm>
            <a:off x="7498079" y="2112264"/>
            <a:ext cx="1737360" cy="32918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B45309"/>
                </a:solidFill>
                <a:latin typeface="Segoe UI"/>
              </a:rPr>
              <a:t>2 checkpoints</a:t>
            </a:r>
          </a:p>
        </p:txBody>
      </p:sp>
      <p:sp>
        <p:nvSpPr>
          <p:cNvPr id="9" name="Rounded Rectangle 8"/>
          <p:cNvSpPr/>
          <p:nvPr/>
        </p:nvSpPr>
        <p:spPr>
          <a:xfrm>
            <a:off x="685800" y="2523744"/>
            <a:ext cx="530352" cy="365760"/>
          </a:xfrm>
          <a:prstGeom prst="roundRect">
            <a:avLst>
              <a:gd name="adj" fmla="val 6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400" b="1">
                <a:solidFill>
                  <a:srgbClr val="FFFFFF"/>
                </a:solidFill>
                <a:latin typeface="Segoe UI"/>
              </a:rPr>
              <a:t>1</a:t>
            </a:r>
          </a:p>
        </p:txBody>
      </p:sp>
      <p:sp>
        <p:nvSpPr>
          <p:cNvPr id="10" name="TextBox 9"/>
          <p:cNvSpPr txBox="1"/>
          <p:nvPr/>
        </p:nvSpPr>
        <p:spPr>
          <a:xfrm>
            <a:off x="1371600" y="2578608"/>
            <a:ext cx="6035040" cy="292608"/>
          </a:xfrm>
          <a:prstGeom prst="rect">
            <a:avLst/>
          </a:prstGeom>
          <a:noFill/>
        </p:spPr>
        <p:txBody>
          <a:bodyPr wrap="square" anchor="t" lIns="0" rIns="0" tIns="0" bIns="0">
            <a:spAutoFit/>
          </a:bodyPr>
          <a:lstStyle/>
          <a:p>
            <a:pPr algn="l">
              <a:spcBef>
                <a:spcPts val="0"/>
              </a:spcBef>
              <a:spcAft>
                <a:spcPts val="600"/>
              </a:spcAft>
            </a:pPr>
            <a:r>
              <a:rPr sz="1400" b="0">
                <a:solidFill>
                  <a:srgbClr val="333B47"/>
                </a:solidFill>
                <a:latin typeface="Segoe UI"/>
              </a:rPr>
              <a:t>Boundary to the NPU stack</a:t>
            </a:r>
          </a:p>
        </p:txBody>
      </p:sp>
      <p:sp>
        <p:nvSpPr>
          <p:cNvPr id="11" name="Rounded Rectangle 10"/>
          <p:cNvSpPr/>
          <p:nvPr/>
        </p:nvSpPr>
        <p:spPr>
          <a:xfrm>
            <a:off x="7498079" y="2542032"/>
            <a:ext cx="1737360" cy="32918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B45309"/>
                </a:solidFill>
                <a:latin typeface="Segoe UI"/>
              </a:rPr>
              <a:t>1 checkpoint</a:t>
            </a:r>
          </a:p>
        </p:txBody>
      </p:sp>
      <p:sp>
        <p:nvSpPr>
          <p:cNvPr id="12" name="Rounded Rectangle 11"/>
          <p:cNvSpPr/>
          <p:nvPr/>
        </p:nvSpPr>
        <p:spPr>
          <a:xfrm>
            <a:off x="685800" y="2953512"/>
            <a:ext cx="530352" cy="365760"/>
          </a:xfrm>
          <a:prstGeom prst="roundRect">
            <a:avLst>
              <a:gd name="adj" fmla="val 6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400" b="1">
                <a:solidFill>
                  <a:srgbClr val="FFFFFF"/>
                </a:solidFill>
                <a:latin typeface="Segoe UI"/>
              </a:rPr>
              <a:t>2</a:t>
            </a:r>
          </a:p>
        </p:txBody>
      </p:sp>
      <p:sp>
        <p:nvSpPr>
          <p:cNvPr id="13" name="TextBox 12"/>
          <p:cNvSpPr txBox="1"/>
          <p:nvPr/>
        </p:nvSpPr>
        <p:spPr>
          <a:xfrm>
            <a:off x="1371600" y="3008376"/>
            <a:ext cx="6035040" cy="292608"/>
          </a:xfrm>
          <a:prstGeom prst="rect">
            <a:avLst/>
          </a:prstGeom>
          <a:noFill/>
        </p:spPr>
        <p:txBody>
          <a:bodyPr wrap="square" anchor="t" lIns="0" rIns="0" tIns="0" bIns="0">
            <a:spAutoFit/>
          </a:bodyPr>
          <a:lstStyle/>
          <a:p>
            <a:pPr algn="l">
              <a:spcBef>
                <a:spcPts val="0"/>
              </a:spcBef>
              <a:spcAft>
                <a:spcPts val="600"/>
              </a:spcAft>
            </a:pPr>
            <a:r>
              <a:rPr sz="1400" b="0">
                <a:solidFill>
                  <a:srgbClr val="333B47"/>
                </a:solidFill>
                <a:latin typeface="Segoe UI"/>
              </a:rPr>
              <a:t>Shared memory and enforcement</a:t>
            </a:r>
          </a:p>
        </p:txBody>
      </p:sp>
      <p:sp>
        <p:nvSpPr>
          <p:cNvPr id="14" name="Rounded Rectangle 13"/>
          <p:cNvSpPr/>
          <p:nvPr/>
        </p:nvSpPr>
        <p:spPr>
          <a:xfrm>
            <a:off x="7498079" y="2971800"/>
            <a:ext cx="1737360" cy="32918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B45309"/>
                </a:solidFill>
                <a:latin typeface="Segoe UI"/>
              </a:rPr>
              <a:t>2 checkpoints</a:t>
            </a:r>
          </a:p>
        </p:txBody>
      </p:sp>
      <p:sp>
        <p:nvSpPr>
          <p:cNvPr id="15" name="Rounded Rectangle 14"/>
          <p:cNvSpPr/>
          <p:nvPr/>
        </p:nvSpPr>
        <p:spPr>
          <a:xfrm>
            <a:off x="685800" y="3383280"/>
            <a:ext cx="530352" cy="365760"/>
          </a:xfrm>
          <a:prstGeom prst="roundRect">
            <a:avLst>
              <a:gd name="adj" fmla="val 6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400" b="1">
                <a:solidFill>
                  <a:srgbClr val="FFFFFF"/>
                </a:solidFill>
                <a:latin typeface="Segoe UI"/>
              </a:rPr>
              <a:t>3</a:t>
            </a:r>
          </a:p>
        </p:txBody>
      </p:sp>
      <p:sp>
        <p:nvSpPr>
          <p:cNvPr id="16" name="TextBox 15"/>
          <p:cNvSpPr txBox="1"/>
          <p:nvPr/>
        </p:nvSpPr>
        <p:spPr>
          <a:xfrm>
            <a:off x="1371600" y="3438144"/>
            <a:ext cx="6035040" cy="292608"/>
          </a:xfrm>
          <a:prstGeom prst="rect">
            <a:avLst/>
          </a:prstGeom>
          <a:noFill/>
        </p:spPr>
        <p:txBody>
          <a:bodyPr wrap="square" anchor="t" lIns="0" rIns="0" tIns="0" bIns="0">
            <a:spAutoFit/>
          </a:bodyPr>
          <a:lstStyle/>
          <a:p>
            <a:pPr algn="l">
              <a:spcBef>
                <a:spcPts val="0"/>
              </a:spcBef>
              <a:spcAft>
                <a:spcPts val="600"/>
              </a:spcAft>
            </a:pPr>
            <a:r>
              <a:rPr sz="1400" b="0">
                <a:solidFill>
                  <a:srgbClr val="333B47"/>
                </a:solidFill>
                <a:latin typeface="Segoe UI"/>
              </a:rPr>
              <a:t>Compiler produces a plan</a:t>
            </a:r>
          </a:p>
        </p:txBody>
      </p:sp>
      <p:sp>
        <p:nvSpPr>
          <p:cNvPr id="17" name="Rounded Rectangle 16"/>
          <p:cNvSpPr/>
          <p:nvPr/>
        </p:nvSpPr>
        <p:spPr>
          <a:xfrm>
            <a:off x="7498079" y="3401568"/>
            <a:ext cx="1737360" cy="32918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B45309"/>
                </a:solidFill>
                <a:latin typeface="Segoe UI"/>
              </a:rPr>
              <a:t>1 checkpoint</a:t>
            </a:r>
          </a:p>
        </p:txBody>
      </p:sp>
      <p:sp>
        <p:nvSpPr>
          <p:cNvPr id="18" name="Rounded Rectangle 17"/>
          <p:cNvSpPr/>
          <p:nvPr/>
        </p:nvSpPr>
        <p:spPr>
          <a:xfrm>
            <a:off x="685800" y="3813048"/>
            <a:ext cx="530352" cy="365760"/>
          </a:xfrm>
          <a:prstGeom prst="roundRect">
            <a:avLst>
              <a:gd name="adj" fmla="val 6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400" b="1">
                <a:solidFill>
                  <a:srgbClr val="FFFFFF"/>
                </a:solidFill>
                <a:latin typeface="Segoe UI"/>
              </a:rPr>
              <a:t>4</a:t>
            </a:r>
          </a:p>
        </p:txBody>
      </p:sp>
      <p:sp>
        <p:nvSpPr>
          <p:cNvPr id="19" name="TextBox 18"/>
          <p:cNvSpPr txBox="1"/>
          <p:nvPr/>
        </p:nvSpPr>
        <p:spPr>
          <a:xfrm>
            <a:off x="1371600" y="3867911"/>
            <a:ext cx="6035040" cy="292608"/>
          </a:xfrm>
          <a:prstGeom prst="rect">
            <a:avLst/>
          </a:prstGeom>
          <a:noFill/>
        </p:spPr>
        <p:txBody>
          <a:bodyPr wrap="square" anchor="t" lIns="0" rIns="0" tIns="0" bIns="0">
            <a:spAutoFit/>
          </a:bodyPr>
          <a:lstStyle/>
          <a:p>
            <a:pPr algn="l">
              <a:spcBef>
                <a:spcPts val="0"/>
              </a:spcBef>
              <a:spcAft>
                <a:spcPts val="600"/>
              </a:spcAft>
            </a:pPr>
            <a:r>
              <a:rPr sz="1400" b="0">
                <a:solidFill>
                  <a:srgbClr val="333B47"/>
                </a:solidFill>
                <a:latin typeface="Segoe UI"/>
              </a:rPr>
              <a:t>Routing and execution</a:t>
            </a:r>
          </a:p>
        </p:txBody>
      </p:sp>
      <p:sp>
        <p:nvSpPr>
          <p:cNvPr id="20" name="Rounded Rectangle 19"/>
          <p:cNvSpPr/>
          <p:nvPr/>
        </p:nvSpPr>
        <p:spPr>
          <a:xfrm>
            <a:off x="7498079" y="3831335"/>
            <a:ext cx="1737360" cy="32918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B45309"/>
                </a:solidFill>
                <a:latin typeface="Segoe UI"/>
              </a:rPr>
              <a:t>2 checkpoints</a:t>
            </a:r>
          </a:p>
        </p:txBody>
      </p:sp>
      <p:sp>
        <p:nvSpPr>
          <p:cNvPr id="21" name="Rounded Rectangle 20"/>
          <p:cNvSpPr/>
          <p:nvPr/>
        </p:nvSpPr>
        <p:spPr>
          <a:xfrm>
            <a:off x="685800" y="4242816"/>
            <a:ext cx="530352" cy="365760"/>
          </a:xfrm>
          <a:prstGeom prst="roundRect">
            <a:avLst>
              <a:gd name="adj" fmla="val 6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400" b="1">
                <a:solidFill>
                  <a:srgbClr val="FFFFFF"/>
                </a:solidFill>
                <a:latin typeface="Segoe UI"/>
              </a:rPr>
              <a:t>5</a:t>
            </a:r>
          </a:p>
        </p:txBody>
      </p:sp>
      <p:sp>
        <p:nvSpPr>
          <p:cNvPr id="22" name="TextBox 21"/>
          <p:cNvSpPr txBox="1"/>
          <p:nvPr/>
        </p:nvSpPr>
        <p:spPr>
          <a:xfrm>
            <a:off x="1371600" y="4297679"/>
            <a:ext cx="6035040" cy="292608"/>
          </a:xfrm>
          <a:prstGeom prst="rect">
            <a:avLst/>
          </a:prstGeom>
          <a:noFill/>
        </p:spPr>
        <p:txBody>
          <a:bodyPr wrap="square" anchor="t" lIns="0" rIns="0" tIns="0" bIns="0">
            <a:spAutoFit/>
          </a:bodyPr>
          <a:lstStyle/>
          <a:p>
            <a:pPr algn="l">
              <a:spcBef>
                <a:spcPts val="0"/>
              </a:spcBef>
              <a:spcAft>
                <a:spcPts val="600"/>
              </a:spcAft>
            </a:pPr>
            <a:r>
              <a:rPr sz="1400" b="0">
                <a:solidFill>
                  <a:srgbClr val="333B47"/>
                </a:solidFill>
                <a:latin typeface="Segoe UI"/>
              </a:rPr>
              <a:t>Operation coverage</a:t>
            </a:r>
          </a:p>
        </p:txBody>
      </p:sp>
      <p:sp>
        <p:nvSpPr>
          <p:cNvPr id="23" name="Rounded Rectangle 22"/>
          <p:cNvSpPr/>
          <p:nvPr/>
        </p:nvSpPr>
        <p:spPr>
          <a:xfrm>
            <a:off x="7498079" y="4261103"/>
            <a:ext cx="1737360" cy="32918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B45309"/>
                </a:solidFill>
                <a:latin typeface="Segoe UI"/>
              </a:rPr>
              <a:t>1 checkpoint</a:t>
            </a:r>
          </a:p>
        </p:txBody>
      </p:sp>
      <p:sp>
        <p:nvSpPr>
          <p:cNvPr id="24" name="Rounded Rectangle 23"/>
          <p:cNvSpPr/>
          <p:nvPr/>
        </p:nvSpPr>
        <p:spPr>
          <a:xfrm>
            <a:off x="685800" y="4672583"/>
            <a:ext cx="530352" cy="365760"/>
          </a:xfrm>
          <a:prstGeom prst="roundRect">
            <a:avLst>
              <a:gd name="adj" fmla="val 6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400" b="1">
                <a:solidFill>
                  <a:srgbClr val="FFFFFF"/>
                </a:solidFill>
                <a:latin typeface="Segoe UI"/>
              </a:rPr>
              <a:t>6</a:t>
            </a:r>
          </a:p>
        </p:txBody>
      </p:sp>
      <p:sp>
        <p:nvSpPr>
          <p:cNvPr id="25" name="TextBox 24"/>
          <p:cNvSpPr txBox="1"/>
          <p:nvPr/>
        </p:nvSpPr>
        <p:spPr>
          <a:xfrm>
            <a:off x="1371600" y="4727447"/>
            <a:ext cx="6035040" cy="292608"/>
          </a:xfrm>
          <a:prstGeom prst="rect">
            <a:avLst/>
          </a:prstGeom>
          <a:noFill/>
        </p:spPr>
        <p:txBody>
          <a:bodyPr wrap="square" anchor="t" lIns="0" rIns="0" tIns="0" bIns="0">
            <a:spAutoFit/>
          </a:bodyPr>
          <a:lstStyle/>
          <a:p>
            <a:pPr algn="l">
              <a:spcBef>
                <a:spcPts val="0"/>
              </a:spcBef>
              <a:spcAft>
                <a:spcPts val="600"/>
              </a:spcAft>
            </a:pPr>
            <a:r>
              <a:rPr sz="1400" b="0">
                <a:solidFill>
                  <a:srgbClr val="333B47"/>
                </a:solidFill>
                <a:latin typeface="Segoe UI"/>
              </a:rPr>
              <a:t>Handling unsupported operations</a:t>
            </a:r>
          </a:p>
        </p:txBody>
      </p:sp>
      <p:sp>
        <p:nvSpPr>
          <p:cNvPr id="26" name="Rounded Rectangle 25"/>
          <p:cNvSpPr/>
          <p:nvPr/>
        </p:nvSpPr>
        <p:spPr>
          <a:xfrm>
            <a:off x="7498079" y="4690871"/>
            <a:ext cx="1737360" cy="32918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B45309"/>
                </a:solidFill>
                <a:latin typeface="Segoe UI"/>
              </a:rPr>
              <a:t>1 checkpoint</a:t>
            </a:r>
          </a:p>
        </p:txBody>
      </p:sp>
      <p:sp>
        <p:nvSpPr>
          <p:cNvPr id="27" name="Rounded Rectangle 26"/>
          <p:cNvSpPr/>
          <p:nvPr/>
        </p:nvSpPr>
        <p:spPr>
          <a:xfrm>
            <a:off x="685800" y="5102352"/>
            <a:ext cx="530352" cy="365760"/>
          </a:xfrm>
          <a:prstGeom prst="roundRect">
            <a:avLst>
              <a:gd name="adj" fmla="val 6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400" b="1">
                <a:solidFill>
                  <a:srgbClr val="FFFFFF"/>
                </a:solidFill>
                <a:latin typeface="Segoe UI"/>
              </a:rPr>
              <a:t>7</a:t>
            </a:r>
          </a:p>
        </p:txBody>
      </p:sp>
      <p:sp>
        <p:nvSpPr>
          <p:cNvPr id="28" name="TextBox 27"/>
          <p:cNvSpPr txBox="1"/>
          <p:nvPr/>
        </p:nvSpPr>
        <p:spPr>
          <a:xfrm>
            <a:off x="1371600" y="5157216"/>
            <a:ext cx="6035040" cy="292608"/>
          </a:xfrm>
          <a:prstGeom prst="rect">
            <a:avLst/>
          </a:prstGeom>
          <a:noFill/>
        </p:spPr>
        <p:txBody>
          <a:bodyPr wrap="square" anchor="t" lIns="0" rIns="0" tIns="0" bIns="0">
            <a:spAutoFit/>
          </a:bodyPr>
          <a:lstStyle/>
          <a:p>
            <a:pPr algn="l">
              <a:spcBef>
                <a:spcPts val="0"/>
              </a:spcBef>
              <a:spcAft>
                <a:spcPts val="600"/>
              </a:spcAft>
            </a:pPr>
            <a:r>
              <a:rPr sz="1400" b="0">
                <a:solidFill>
                  <a:srgbClr val="333B47"/>
                </a:solidFill>
                <a:latin typeface="Segoe UI"/>
              </a:rPr>
              <a:t>Loading model weights</a:t>
            </a:r>
          </a:p>
        </p:txBody>
      </p:sp>
      <p:sp>
        <p:nvSpPr>
          <p:cNvPr id="29" name="Rounded Rectangle 28"/>
          <p:cNvSpPr/>
          <p:nvPr/>
        </p:nvSpPr>
        <p:spPr>
          <a:xfrm>
            <a:off x="7498079" y="5120640"/>
            <a:ext cx="1737360" cy="32918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B45309"/>
                </a:solidFill>
                <a:latin typeface="Segoe UI"/>
              </a:rPr>
              <a:t>1 checkpoint</a:t>
            </a:r>
          </a:p>
        </p:txBody>
      </p:sp>
      <p:sp>
        <p:nvSpPr>
          <p:cNvPr id="30" name="Rounded Rectangle 29"/>
          <p:cNvSpPr/>
          <p:nvPr/>
        </p:nvSpPr>
        <p:spPr>
          <a:xfrm>
            <a:off x="685800" y="5532120"/>
            <a:ext cx="530352" cy="365760"/>
          </a:xfrm>
          <a:prstGeom prst="roundRect">
            <a:avLst>
              <a:gd name="adj" fmla="val 6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400" b="1">
                <a:solidFill>
                  <a:srgbClr val="FFFFFF"/>
                </a:solidFill>
                <a:latin typeface="Segoe UI"/>
              </a:rPr>
              <a:t>8</a:t>
            </a:r>
          </a:p>
        </p:txBody>
      </p:sp>
      <p:sp>
        <p:nvSpPr>
          <p:cNvPr id="31" name="TextBox 30"/>
          <p:cNvSpPr txBox="1"/>
          <p:nvPr/>
        </p:nvSpPr>
        <p:spPr>
          <a:xfrm>
            <a:off x="1371600" y="5586983"/>
            <a:ext cx="6035040" cy="292608"/>
          </a:xfrm>
          <a:prstGeom prst="rect">
            <a:avLst/>
          </a:prstGeom>
          <a:noFill/>
        </p:spPr>
        <p:txBody>
          <a:bodyPr wrap="square" anchor="t" lIns="0" rIns="0" tIns="0" bIns="0">
            <a:spAutoFit/>
          </a:bodyPr>
          <a:lstStyle/>
          <a:p>
            <a:pPr algn="l">
              <a:spcBef>
                <a:spcPts val="0"/>
              </a:spcBef>
              <a:spcAft>
                <a:spcPts val="600"/>
              </a:spcAft>
            </a:pPr>
            <a:r>
              <a:rPr sz="1400" b="0">
                <a:solidFill>
                  <a:srgbClr val="333B47"/>
                </a:solidFill>
                <a:latin typeface="Segoe UI"/>
              </a:rPr>
              <a:t>Full end-to-end generation</a:t>
            </a:r>
          </a:p>
        </p:txBody>
      </p:sp>
      <p:sp>
        <p:nvSpPr>
          <p:cNvPr id="32" name="Rounded Rectangle 31"/>
          <p:cNvSpPr/>
          <p:nvPr/>
        </p:nvSpPr>
        <p:spPr>
          <a:xfrm>
            <a:off x="7498079" y="5550407"/>
            <a:ext cx="1737360" cy="329184"/>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000" b="1">
                <a:solidFill>
                  <a:srgbClr val="B45309"/>
                </a:solidFill>
                <a:latin typeface="Segoe UI"/>
              </a:rPr>
              <a:t>1 checkpoint</a:t>
            </a:r>
          </a:p>
        </p:txBody>
      </p:sp>
      <p:sp>
        <p:nvSpPr>
          <p:cNvPr id="33" name="Rounded Rectangle 32"/>
          <p:cNvSpPr/>
          <p:nvPr/>
        </p:nvSpPr>
        <p:spPr>
          <a:xfrm>
            <a:off x="9555480" y="2093976"/>
            <a:ext cx="1920240" cy="1188720"/>
          </a:xfrm>
          <a:prstGeom prst="roundRect">
            <a:avLst>
              <a:gd name="adj" fmla="val 6000"/>
            </a:avLst>
          </a:prstGeom>
          <a:solidFill>
            <a:srgbClr val="F8FAFC"/>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2600" b="1">
                <a:solidFill>
                  <a:srgbClr val="14181F"/>
                </a:solidFill>
                <a:latin typeface="Segoe UI"/>
              </a:rPr>
              <a:t>39</a:t>
            </a:r>
          </a:p>
          <a:p>
            <a:pPr algn="ctr">
              <a:spcAft>
                <a:spcPts val="200"/>
              </a:spcAft>
            </a:pPr>
            <a:r>
              <a:rPr sz="1000" b="0">
                <a:solidFill>
                  <a:srgbClr val="6B7480"/>
                </a:solidFill>
                <a:latin typeface="Segoe UI"/>
              </a:rPr>
              <a:t>tasks in total</a:t>
            </a:r>
          </a:p>
        </p:txBody>
      </p:sp>
      <p:sp>
        <p:nvSpPr>
          <p:cNvPr id="34" name="Rounded Rectangle 33"/>
          <p:cNvSpPr/>
          <p:nvPr/>
        </p:nvSpPr>
        <p:spPr>
          <a:xfrm>
            <a:off x="9555480" y="3392424"/>
            <a:ext cx="1920240" cy="1188720"/>
          </a:xfrm>
          <a:prstGeom prst="roundRect">
            <a:avLst>
              <a:gd name="adj" fmla="val 6000"/>
            </a:avLst>
          </a:prstGeom>
          <a:solidFill>
            <a:srgbClr val="FFFBEB"/>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2600" b="1">
                <a:solidFill>
                  <a:srgbClr val="B45309"/>
                </a:solidFill>
                <a:latin typeface="Segoe UI"/>
              </a:rPr>
              <a:t>12</a:t>
            </a:r>
          </a:p>
          <a:p>
            <a:pPr algn="ctr">
              <a:spcAft>
                <a:spcPts val="200"/>
              </a:spcAft>
            </a:pPr>
            <a:r>
              <a:rPr sz="1000" b="0">
                <a:solidFill>
                  <a:srgbClr val="6B7480"/>
                </a:solidFill>
                <a:latin typeface="Segoe UI"/>
              </a:rPr>
              <a:t>checkpoints, any of which can halt the project</a:t>
            </a:r>
          </a:p>
        </p:txBody>
      </p:sp>
      <p:sp>
        <p:nvSpPr>
          <p:cNvPr id="35" name="Rounded Rectangle 34"/>
          <p:cNvSpPr/>
          <p:nvPr/>
        </p:nvSpPr>
        <p:spPr>
          <a:xfrm>
            <a:off x="9555480" y="4690872"/>
            <a:ext cx="1920240" cy="1188720"/>
          </a:xfrm>
          <a:prstGeom prst="roundRect">
            <a:avLst>
              <a:gd name="adj" fmla="val 6000"/>
            </a:avLst>
          </a:prstGeom>
          <a:solidFill>
            <a:srgbClr val="EFF6FF"/>
          </a:solidFill>
          <a:ln w="12700">
            <a:solidFill>
              <a:srgbClr val="1D4ED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2600" b="1">
                <a:solidFill>
                  <a:srgbClr val="1D4ED8"/>
                </a:solidFill>
                <a:latin typeface="Segoe UI"/>
              </a:rPr>
              <a:t>20</a:t>
            </a:r>
          </a:p>
          <a:p>
            <a:pPr algn="ctr">
              <a:spcAft>
                <a:spcPts val="200"/>
              </a:spcAft>
            </a:pPr>
            <a:r>
              <a:rPr sz="1000" b="0">
                <a:solidFill>
                  <a:srgbClr val="6B7480"/>
                </a:solidFill>
                <a:latin typeface="Segoe UI"/>
              </a:rPr>
              <a:t>of those tasks need the NPU machine to sign off</a:t>
            </a:r>
          </a:p>
        </p:txBody>
      </p:sp>
      <p:sp>
        <p:nvSpPr>
          <p:cNvPr id="36" name="TextBox 35"/>
          <p:cNvSpPr txBox="1"/>
          <p:nvPr/>
        </p:nvSpPr>
        <p:spPr>
          <a:xfrm>
            <a:off x="685800" y="6355080"/>
            <a:ext cx="7315200" cy="274320"/>
          </a:xfrm>
          <a:prstGeom prst="rect">
            <a:avLst/>
          </a:prstGeom>
          <a:noFill/>
        </p:spPr>
        <p:txBody>
          <a:bodyPr wrap="square" anchor="t" lIns="0" rIns="0" tIns="0" bIns="0">
            <a:spAutoFit/>
          </a:bodyPr>
          <a:lstStyle/>
          <a:p>
            <a:pPr algn="l">
              <a:spcBef>
                <a:spcPts val="0"/>
              </a:spcBef>
              <a:spcAft>
                <a:spcPts val="600"/>
              </a:spcAft>
            </a:pPr>
            <a:r>
              <a:rPr sz="900" b="0">
                <a:solidFill>
                  <a:srgbClr val="6B7480"/>
                </a:solidFill>
                <a:latin typeface="Segoe UI"/>
              </a:rPr>
              <a:t>Hybrid NPU + GPU Execution  ·  MorphiZen HIP EP</a:t>
            </a:r>
          </a:p>
        </p:txBody>
      </p:sp>
      <p:sp>
        <p:nvSpPr>
          <p:cNvPr id="37" name="TextBox 36"/>
          <p:cNvSpPr txBox="1"/>
          <p:nvPr/>
        </p:nvSpPr>
        <p:spPr>
          <a:xfrm>
            <a:off x="10881360" y="6355080"/>
            <a:ext cx="594360" cy="274320"/>
          </a:xfrm>
          <a:prstGeom prst="rect">
            <a:avLst/>
          </a:prstGeom>
          <a:noFill/>
        </p:spPr>
        <p:txBody>
          <a:bodyPr wrap="square" anchor="t" lIns="0" rIns="0" tIns="0" bIns="0">
            <a:spAutoFit/>
          </a:bodyPr>
          <a:lstStyle/>
          <a:p>
            <a:pPr algn="r">
              <a:spcBef>
                <a:spcPts val="0"/>
              </a:spcBef>
              <a:spcAft>
                <a:spcPts val="600"/>
              </a:spcAft>
            </a:pPr>
            <a:r>
              <a:rPr sz="900" b="0">
                <a:solidFill>
                  <a:srgbClr val="6B748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789920" cy="274320"/>
          </a:xfrm>
          <a:prstGeom prst="rect">
            <a:avLst/>
          </a:prstGeom>
          <a:noFill/>
        </p:spPr>
        <p:txBody>
          <a:bodyPr wrap="square" anchor="t" lIns="0" rIns="0" tIns="0" bIns="0">
            <a:spAutoFit/>
          </a:bodyPr>
          <a:lstStyle/>
          <a:p>
            <a:pPr algn="l">
              <a:spcBef>
                <a:spcPts val="0"/>
              </a:spcBef>
              <a:spcAft>
                <a:spcPts val="600"/>
              </a:spcAft>
            </a:pPr>
            <a:r>
              <a:rPr sz="1100" b="1">
                <a:solidFill>
                  <a:srgbClr val="6B7480"/>
                </a:solidFill>
                <a:latin typeface="Segoe UI"/>
              </a:rPr>
              <a:t>STATUS</a:t>
            </a:r>
          </a:p>
        </p:txBody>
      </p:sp>
      <p:sp>
        <p:nvSpPr>
          <p:cNvPr id="3" name="TextBox 2"/>
          <p:cNvSpPr txBox="1"/>
          <p:nvPr/>
        </p:nvSpPr>
        <p:spPr>
          <a:xfrm>
            <a:off x="685800" y="658368"/>
            <a:ext cx="10789920" cy="548640"/>
          </a:xfrm>
          <a:prstGeom prst="rect">
            <a:avLst/>
          </a:prstGeom>
          <a:noFill/>
        </p:spPr>
        <p:txBody>
          <a:bodyPr wrap="square" anchor="t" lIns="0" rIns="0" tIns="0" bIns="0">
            <a:spAutoFit/>
          </a:bodyPr>
          <a:lstStyle/>
          <a:p>
            <a:pPr algn="l">
              <a:spcBef>
                <a:spcPts val="0"/>
              </a:spcBef>
              <a:spcAft>
                <a:spcPts val="600"/>
              </a:spcAft>
            </a:pPr>
            <a:r>
              <a:rPr sz="3000" b="1">
                <a:solidFill>
                  <a:srgbClr val="14181F"/>
                </a:solidFill>
                <a:latin typeface="Segoe UI"/>
              </a:rPr>
              <a:t>Where we are today</a:t>
            </a:r>
          </a:p>
        </p:txBody>
      </p:sp>
      <p:sp>
        <p:nvSpPr>
          <p:cNvPr id="4" name="Rectangle 3"/>
          <p:cNvSpPr/>
          <p:nvPr/>
        </p:nvSpPr>
        <p:spPr>
          <a:xfrm>
            <a:off x="685800" y="1316736"/>
            <a:ext cx="10789920" cy="1524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527048"/>
            <a:ext cx="3429000" cy="2057400"/>
          </a:xfrm>
          <a:prstGeom prst="roundRect">
            <a:avLst>
              <a:gd name="adj" fmla="val 6000"/>
            </a:avLst>
          </a:prstGeom>
          <a:solidFill>
            <a:srgbClr val="ECFDF5"/>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000" b="1">
                <a:solidFill>
                  <a:srgbClr val="047857"/>
                </a:solidFill>
                <a:latin typeface="Segoe UI"/>
              </a:rPr>
              <a:t>COMPLETE</a:t>
            </a:r>
          </a:p>
          <a:p>
            <a:pPr algn="l">
              <a:spcAft>
                <a:spcPts val="200"/>
              </a:spcAft>
            </a:pPr>
            <a:r>
              <a:rPr sz="1500" b="1">
                <a:solidFill>
                  <a:srgbClr val="14181F"/>
                </a:solidFill>
                <a:latin typeface="Segoe UI"/>
              </a:rPr>
              <a:t>Design and task breakdown</a:t>
            </a:r>
          </a:p>
          <a:p>
            <a:pPr algn="l">
              <a:spcAft>
                <a:spcPts val="200"/>
              </a:spcAft>
            </a:pPr>
            <a:r>
              <a:rPr sz="1200" b="0">
                <a:solidFill>
                  <a:srgbClr val="333B47"/>
                </a:solidFill>
                <a:latin typeface="Segoe UI"/>
              </a:rPr>
              <a:t>Reviewed. Memory layouts confirmed compatible, which retired the largest technical risk.</a:t>
            </a:r>
          </a:p>
        </p:txBody>
      </p:sp>
      <p:sp>
        <p:nvSpPr>
          <p:cNvPr id="6" name="Rounded Rectangle 5"/>
          <p:cNvSpPr/>
          <p:nvPr/>
        </p:nvSpPr>
        <p:spPr>
          <a:xfrm>
            <a:off x="4370832" y="1527048"/>
            <a:ext cx="3429000" cy="2057400"/>
          </a:xfrm>
          <a:prstGeom prst="roundRect">
            <a:avLst>
              <a:gd name="adj" fmla="val 6000"/>
            </a:avLst>
          </a:prstGeom>
          <a:solidFill>
            <a:srgbClr val="FFFBEB"/>
          </a:solidFill>
          <a:ln w="1905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000" b="1">
                <a:solidFill>
                  <a:srgbClr val="B45309"/>
                </a:solidFill>
                <a:latin typeface="Segoe UI"/>
              </a:rPr>
              <a:t>AWAITING HARDWARE</a:t>
            </a:r>
          </a:p>
          <a:p>
            <a:pPr algn="l">
              <a:spcAft>
                <a:spcPts val="200"/>
              </a:spcAft>
            </a:pPr>
            <a:r>
              <a:rPr sz="1500" b="1">
                <a:solidFill>
                  <a:srgbClr val="14181F"/>
                </a:solidFill>
                <a:latin typeface="Segoe UI"/>
              </a:rPr>
              <a:t>Two Phase 0 checks</a:t>
            </a:r>
          </a:p>
          <a:p>
            <a:pPr algn="l">
              <a:spcAft>
                <a:spcPts val="200"/>
              </a:spcAft>
            </a:pPr>
            <a:r>
              <a:rPr sz="1200" b="0">
                <a:solidFill>
                  <a:srgbClr val="333B47"/>
                </a:solidFill>
                <a:latin typeface="Segoe UI"/>
              </a:rPr>
              <a:t>Software is written and reviewed. Both need the NPU machine to run, which is a scheduled trip.</a:t>
            </a:r>
          </a:p>
        </p:txBody>
      </p:sp>
      <p:sp>
        <p:nvSpPr>
          <p:cNvPr id="7" name="Rounded Rectangle 6"/>
          <p:cNvSpPr/>
          <p:nvPr/>
        </p:nvSpPr>
        <p:spPr>
          <a:xfrm>
            <a:off x="8055864" y="1527048"/>
            <a:ext cx="3429000" cy="2057400"/>
          </a:xfrm>
          <a:prstGeom prst="roundRect">
            <a:avLst>
              <a:gd name="adj" fmla="val 6000"/>
            </a:avLst>
          </a:prstGeom>
          <a:solidFill>
            <a:srgbClr val="F8FAFC"/>
          </a:solidFill>
          <a:ln w="1905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000" b="1">
                <a:solidFill>
                  <a:srgbClr val="6B7480"/>
                </a:solidFill>
                <a:latin typeface="Segoe UI"/>
              </a:rPr>
              <a:t>BLOCKED</a:t>
            </a:r>
          </a:p>
          <a:p>
            <a:pPr algn="l">
              <a:spcAft>
                <a:spcPts val="200"/>
              </a:spcAft>
            </a:pPr>
            <a:r>
              <a:rPr sz="1500" b="1">
                <a:solidFill>
                  <a:srgbClr val="14181F"/>
                </a:solidFill>
                <a:latin typeface="Segoe UI"/>
              </a:rPr>
              <a:t>Everything after Phase 0</a:t>
            </a:r>
          </a:p>
          <a:p>
            <a:pPr algn="l">
              <a:spcAft>
                <a:spcPts val="200"/>
              </a:spcAft>
            </a:pPr>
            <a:r>
              <a:rPr sz="1200" b="0">
                <a:solidFill>
                  <a:srgbClr val="333B47"/>
                </a:solidFill>
                <a:latin typeface="Segoe UI"/>
              </a:rPr>
              <a:t>Held deliberately. The memory question decides the architecture, so we do not build ahead of it.</a:t>
            </a:r>
          </a:p>
        </p:txBody>
      </p:sp>
      <p:sp>
        <p:nvSpPr>
          <p:cNvPr id="8" name="Rounded Rectangle 7"/>
          <p:cNvSpPr/>
          <p:nvPr/>
        </p:nvSpPr>
        <p:spPr>
          <a:xfrm>
            <a:off x="685800" y="3904487"/>
            <a:ext cx="10789920" cy="1417320"/>
          </a:xfrm>
          <a:prstGeom prst="roundRect">
            <a:avLst>
              <a:gd name="adj" fmla="val 6000"/>
            </a:avLst>
          </a:prstGeom>
          <a:solidFill>
            <a:srgbClr val="FFFFFF"/>
          </a:solidFill>
          <a:ln w="254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500" b="1">
                <a:solidFill>
                  <a:srgbClr val="14181F"/>
                </a:solidFill>
                <a:latin typeface="Segoe UI"/>
              </a:rPr>
              <a:t>The one thing that would change the plan</a:t>
            </a:r>
          </a:p>
          <a:p>
            <a:pPr algn="l">
              <a:spcAft>
                <a:spcPts val="200"/>
              </a:spcAft>
            </a:pPr>
            <a:r>
              <a:rPr sz="1300" b="0">
                <a:solidFill>
                  <a:srgbClr val="333B47"/>
                </a:solidFill>
                <a:latin typeface="Segoe UI"/>
              </a:rPr>
              <a:t>Zero copy depends on the NPU being able to use memory our software allocated. That has never been tested in this combination. It is the first thing we check, on purpose — a negative result is an architecture decision, not a delay, and we would rather find it now than in Phase 5.</a:t>
            </a:r>
          </a:p>
        </p:txBody>
      </p:sp>
      <p:sp>
        <p:nvSpPr>
          <p:cNvPr id="9" name="TextBox 8"/>
          <p:cNvSpPr txBox="1"/>
          <p:nvPr/>
        </p:nvSpPr>
        <p:spPr>
          <a:xfrm>
            <a:off x="685800" y="6355080"/>
            <a:ext cx="7315200" cy="274320"/>
          </a:xfrm>
          <a:prstGeom prst="rect">
            <a:avLst/>
          </a:prstGeom>
          <a:noFill/>
        </p:spPr>
        <p:txBody>
          <a:bodyPr wrap="square" anchor="t" lIns="0" rIns="0" tIns="0" bIns="0">
            <a:spAutoFit/>
          </a:bodyPr>
          <a:lstStyle/>
          <a:p>
            <a:pPr algn="l">
              <a:spcBef>
                <a:spcPts val="0"/>
              </a:spcBef>
              <a:spcAft>
                <a:spcPts val="600"/>
              </a:spcAft>
            </a:pPr>
            <a:r>
              <a:rPr sz="900" b="0">
                <a:solidFill>
                  <a:srgbClr val="6B7480"/>
                </a:solidFill>
                <a:latin typeface="Segoe UI"/>
              </a:rPr>
              <a:t>Hybrid NPU + GPU Execution  ·  MorphiZen HIP EP</a:t>
            </a:r>
          </a:p>
        </p:txBody>
      </p:sp>
      <p:sp>
        <p:nvSpPr>
          <p:cNvPr id="10" name="TextBox 9"/>
          <p:cNvSpPr txBox="1"/>
          <p:nvPr/>
        </p:nvSpPr>
        <p:spPr>
          <a:xfrm>
            <a:off x="10881360" y="6355080"/>
            <a:ext cx="594360" cy="274320"/>
          </a:xfrm>
          <a:prstGeom prst="rect">
            <a:avLst/>
          </a:prstGeom>
          <a:noFill/>
        </p:spPr>
        <p:txBody>
          <a:bodyPr wrap="square" anchor="t" lIns="0" rIns="0" tIns="0" bIns="0">
            <a:spAutoFit/>
          </a:bodyPr>
          <a:lstStyle/>
          <a:p>
            <a:pPr algn="r">
              <a:spcBef>
                <a:spcPts val="0"/>
              </a:spcBef>
              <a:spcAft>
                <a:spcPts val="600"/>
              </a:spcAft>
            </a:pPr>
            <a:r>
              <a:rPr sz="900" b="0">
                <a:solidFill>
                  <a:srgbClr val="6B748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789920" cy="274320"/>
          </a:xfrm>
          <a:prstGeom prst="rect">
            <a:avLst/>
          </a:prstGeom>
          <a:noFill/>
        </p:spPr>
        <p:txBody>
          <a:bodyPr wrap="square" anchor="t" lIns="0" rIns="0" tIns="0" bIns="0">
            <a:spAutoFit/>
          </a:bodyPr>
          <a:lstStyle/>
          <a:p>
            <a:pPr algn="l">
              <a:spcBef>
                <a:spcPts val="0"/>
              </a:spcBef>
              <a:spcAft>
                <a:spcPts val="600"/>
              </a:spcAft>
            </a:pPr>
            <a:r>
              <a:rPr sz="1100" b="1">
                <a:solidFill>
                  <a:srgbClr val="6B7480"/>
                </a:solidFill>
                <a:latin typeface="Segoe UI"/>
              </a:rPr>
              <a:t>RISK</a:t>
            </a:r>
          </a:p>
        </p:txBody>
      </p:sp>
      <p:sp>
        <p:nvSpPr>
          <p:cNvPr id="3" name="TextBox 2"/>
          <p:cNvSpPr txBox="1"/>
          <p:nvPr/>
        </p:nvSpPr>
        <p:spPr>
          <a:xfrm>
            <a:off x="685800" y="658368"/>
            <a:ext cx="10789920" cy="548640"/>
          </a:xfrm>
          <a:prstGeom prst="rect">
            <a:avLst/>
          </a:prstGeom>
          <a:noFill/>
        </p:spPr>
        <p:txBody>
          <a:bodyPr wrap="square" anchor="t" lIns="0" rIns="0" tIns="0" bIns="0">
            <a:spAutoFit/>
          </a:bodyPr>
          <a:lstStyle/>
          <a:p>
            <a:pPr algn="l">
              <a:spcBef>
                <a:spcPts val="0"/>
              </a:spcBef>
              <a:spcAft>
                <a:spcPts val="600"/>
              </a:spcAft>
            </a:pPr>
            <a:r>
              <a:rPr sz="3000" b="1">
                <a:solidFill>
                  <a:srgbClr val="14181F"/>
                </a:solidFill>
                <a:latin typeface="Segoe UI"/>
              </a:rPr>
              <a:t>Risks, and how we find out early</a:t>
            </a:r>
          </a:p>
        </p:txBody>
      </p:sp>
      <p:sp>
        <p:nvSpPr>
          <p:cNvPr id="4" name="Rectangle 3"/>
          <p:cNvSpPr/>
          <p:nvPr/>
        </p:nvSpPr>
        <p:spPr>
          <a:xfrm>
            <a:off x="685800" y="1316736"/>
            <a:ext cx="10789920" cy="1524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527048"/>
            <a:ext cx="10789920" cy="365760"/>
          </a:xfrm>
          <a:prstGeom prst="rect">
            <a:avLst/>
          </a:prstGeom>
          <a:noFill/>
        </p:spPr>
        <p:txBody>
          <a:bodyPr wrap="square" anchor="t" lIns="0" rIns="0" tIns="0" bIns="0">
            <a:spAutoFit/>
          </a:bodyPr>
          <a:lstStyle/>
          <a:p>
            <a:pPr algn="l">
              <a:spcBef>
                <a:spcPts val="0"/>
              </a:spcBef>
              <a:spcAft>
                <a:spcPts val="600"/>
              </a:spcAft>
            </a:pPr>
            <a:r>
              <a:rPr sz="1500" b="0">
                <a:solidFill>
                  <a:srgbClr val="333B47"/>
                </a:solidFill>
                <a:latin typeface="Segoe UI"/>
              </a:rPr>
              <a:t>Three findings would invalidate the approach rather than complicate it. All three are checked before the bulk of the work.</a:t>
            </a:r>
          </a:p>
        </p:txBody>
      </p:sp>
      <p:sp>
        <p:nvSpPr>
          <p:cNvPr id="6" name="Rounded Rectangle 5"/>
          <p:cNvSpPr/>
          <p:nvPr/>
        </p:nvSpPr>
        <p:spPr>
          <a:xfrm>
            <a:off x="685800" y="2093976"/>
            <a:ext cx="4023360" cy="960120"/>
          </a:xfrm>
          <a:prstGeom prst="roundRect">
            <a:avLst>
              <a:gd name="adj" fmla="val 6000"/>
            </a:avLst>
          </a:prstGeom>
          <a:solidFill>
            <a:srgbClr val="FEF4F4"/>
          </a:solidFill>
          <a:ln w="1524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14181F"/>
                </a:solidFill>
                <a:latin typeface="Segoe UI"/>
              </a:rPr>
              <a:t>Shared memory cannot be shared</a:t>
            </a:r>
          </a:p>
        </p:txBody>
      </p:sp>
      <p:sp>
        <p:nvSpPr>
          <p:cNvPr id="7" name="TextBox 6"/>
          <p:cNvSpPr txBox="1"/>
          <p:nvPr/>
        </p:nvSpPr>
        <p:spPr>
          <a:xfrm>
            <a:off x="4983480" y="2185416"/>
            <a:ext cx="4114800" cy="777240"/>
          </a:xfrm>
          <a:prstGeom prst="rect">
            <a:avLst/>
          </a:prstGeom>
          <a:noFill/>
        </p:spPr>
        <p:txBody>
          <a:bodyPr wrap="square" anchor="t" lIns="0" rIns="0" tIns="0" bIns="0">
            <a:spAutoFit/>
          </a:bodyPr>
          <a:lstStyle/>
          <a:p>
            <a:pPr algn="l">
              <a:lnSpc>
                <a:spcPct val="122000"/>
              </a:lnSpc>
              <a:spcBef>
                <a:spcPts val="0"/>
              </a:spcBef>
              <a:spcAft>
                <a:spcPts val="600"/>
              </a:spcAft>
            </a:pPr>
            <a:r>
              <a:rPr sz="1200" b="0">
                <a:solidFill>
                  <a:srgbClr val="333B47"/>
                </a:solidFill>
                <a:latin typeface="Segoe UI"/>
              </a:rPr>
              <a:t>The NPU rejects memory our software allocated, so a copy would be unavoidable.</a:t>
            </a:r>
          </a:p>
        </p:txBody>
      </p:sp>
      <p:sp>
        <p:nvSpPr>
          <p:cNvPr id="8" name="Rounded Rectangle 7"/>
          <p:cNvSpPr/>
          <p:nvPr/>
        </p:nvSpPr>
        <p:spPr>
          <a:xfrm>
            <a:off x="9326880" y="2322576"/>
            <a:ext cx="2148840" cy="502920"/>
          </a:xfrm>
          <a:prstGeom prst="roundRect">
            <a:avLst>
              <a:gd name="adj" fmla="val 6000"/>
            </a:avLst>
          </a:prstGeom>
          <a:solidFill>
            <a:srgbClr val="ECFDF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100" b="1">
                <a:solidFill>
                  <a:srgbClr val="047857"/>
                </a:solidFill>
                <a:latin typeface="Segoe UI"/>
              </a:rPr>
              <a:t>Checked in Phase 0</a:t>
            </a:r>
          </a:p>
        </p:txBody>
      </p:sp>
      <p:sp>
        <p:nvSpPr>
          <p:cNvPr id="9" name="Rounded Rectangle 8"/>
          <p:cNvSpPr/>
          <p:nvPr/>
        </p:nvSpPr>
        <p:spPr>
          <a:xfrm>
            <a:off x="685800" y="3172968"/>
            <a:ext cx="4023360" cy="960120"/>
          </a:xfrm>
          <a:prstGeom prst="roundRect">
            <a:avLst>
              <a:gd name="adj" fmla="val 6000"/>
            </a:avLst>
          </a:prstGeom>
          <a:solidFill>
            <a:srgbClr val="FEF4F4"/>
          </a:solidFill>
          <a:ln w="1524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14181F"/>
                </a:solidFill>
                <a:latin typeface="Segoe UI"/>
              </a:rPr>
              <a:t>The software stacks conflict</a:t>
            </a:r>
          </a:p>
        </p:txBody>
      </p:sp>
      <p:sp>
        <p:nvSpPr>
          <p:cNvPr id="10" name="TextBox 9"/>
          <p:cNvSpPr txBox="1"/>
          <p:nvPr/>
        </p:nvSpPr>
        <p:spPr>
          <a:xfrm>
            <a:off x="4983480" y="3264408"/>
            <a:ext cx="4114800" cy="777240"/>
          </a:xfrm>
          <a:prstGeom prst="rect">
            <a:avLst/>
          </a:prstGeom>
          <a:noFill/>
        </p:spPr>
        <p:txBody>
          <a:bodyPr wrap="square" anchor="t" lIns="0" rIns="0" tIns="0" bIns="0">
            <a:spAutoFit/>
          </a:bodyPr>
          <a:lstStyle/>
          <a:p>
            <a:pPr algn="l">
              <a:lnSpc>
                <a:spcPct val="122000"/>
              </a:lnSpc>
              <a:spcBef>
                <a:spcPts val="0"/>
              </a:spcBef>
              <a:spcAft>
                <a:spcPts val="600"/>
              </a:spcAft>
            </a:pPr>
            <a:r>
              <a:rPr sz="1200" b="0">
                <a:solidFill>
                  <a:srgbClr val="333B47"/>
                </a:solidFill>
                <a:latin typeface="Segoe UI"/>
              </a:rPr>
              <a:t>Our runtime and the NPU's cannot coexist in one process. We have been bitten by this class of problem before.</a:t>
            </a:r>
          </a:p>
        </p:txBody>
      </p:sp>
      <p:sp>
        <p:nvSpPr>
          <p:cNvPr id="11" name="Rounded Rectangle 10"/>
          <p:cNvSpPr/>
          <p:nvPr/>
        </p:nvSpPr>
        <p:spPr>
          <a:xfrm>
            <a:off x="9326880" y="3401568"/>
            <a:ext cx="2148840" cy="502920"/>
          </a:xfrm>
          <a:prstGeom prst="roundRect">
            <a:avLst>
              <a:gd name="adj" fmla="val 6000"/>
            </a:avLst>
          </a:prstGeom>
          <a:solidFill>
            <a:srgbClr val="ECFDF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100" b="1">
                <a:solidFill>
                  <a:srgbClr val="047857"/>
                </a:solidFill>
                <a:latin typeface="Segoe UI"/>
              </a:rPr>
              <a:t>Checked in Phase 0</a:t>
            </a:r>
          </a:p>
        </p:txBody>
      </p:sp>
      <p:sp>
        <p:nvSpPr>
          <p:cNvPr id="12" name="Rounded Rectangle 11"/>
          <p:cNvSpPr/>
          <p:nvPr/>
        </p:nvSpPr>
        <p:spPr>
          <a:xfrm>
            <a:off x="685800" y="4251960"/>
            <a:ext cx="4023360" cy="960120"/>
          </a:xfrm>
          <a:prstGeom prst="roundRect">
            <a:avLst>
              <a:gd name="adj" fmla="val 6000"/>
            </a:avLst>
          </a:prstGeom>
          <a:solidFill>
            <a:srgbClr val="FEF4F4"/>
          </a:solidFill>
          <a:ln w="1524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14181F"/>
                </a:solidFill>
                <a:latin typeface="Segoe UI"/>
              </a:rPr>
              <a:t>Too much falls back to the GPU</a:t>
            </a:r>
          </a:p>
        </p:txBody>
      </p:sp>
      <p:sp>
        <p:nvSpPr>
          <p:cNvPr id="13" name="TextBox 12"/>
          <p:cNvSpPr txBox="1"/>
          <p:nvPr/>
        </p:nvSpPr>
        <p:spPr>
          <a:xfrm>
            <a:off x="4983480" y="4343400"/>
            <a:ext cx="4114800" cy="777240"/>
          </a:xfrm>
          <a:prstGeom prst="rect">
            <a:avLst/>
          </a:prstGeom>
          <a:noFill/>
        </p:spPr>
        <p:txBody>
          <a:bodyPr wrap="square" anchor="t" lIns="0" rIns="0" tIns="0" bIns="0">
            <a:spAutoFit/>
          </a:bodyPr>
          <a:lstStyle/>
          <a:p>
            <a:pPr algn="l">
              <a:lnSpc>
                <a:spcPct val="122000"/>
              </a:lnSpc>
              <a:spcBef>
                <a:spcPts val="0"/>
              </a:spcBef>
              <a:spcAft>
                <a:spcPts val="600"/>
              </a:spcAft>
            </a:pPr>
            <a:r>
              <a:rPr sz="1200" b="0">
                <a:solidFill>
                  <a:srgbClr val="333B47"/>
                </a:solidFill>
                <a:latin typeface="Segoe UI"/>
              </a:rPr>
              <a:t>If the NPU cannot handle enough of the model, the arrangement loses its benefit.</a:t>
            </a:r>
          </a:p>
        </p:txBody>
      </p:sp>
      <p:sp>
        <p:nvSpPr>
          <p:cNvPr id="14" name="Rounded Rectangle 13"/>
          <p:cNvSpPr/>
          <p:nvPr/>
        </p:nvSpPr>
        <p:spPr>
          <a:xfrm>
            <a:off x="9326880" y="4480560"/>
            <a:ext cx="2148840" cy="502920"/>
          </a:xfrm>
          <a:prstGeom prst="roundRect">
            <a:avLst>
              <a:gd name="adj" fmla="val 6000"/>
            </a:avLst>
          </a:prstGeom>
          <a:solidFill>
            <a:srgbClr val="ECFDF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ctr">
              <a:spcAft>
                <a:spcPts val="200"/>
              </a:spcAft>
            </a:pPr>
            <a:r>
              <a:rPr sz="1100" b="1">
                <a:solidFill>
                  <a:srgbClr val="047857"/>
                </a:solidFill>
                <a:latin typeface="Segoe UI"/>
              </a:rPr>
              <a:t>Detected automatically at build time</a:t>
            </a:r>
          </a:p>
        </p:txBody>
      </p:sp>
      <p:sp>
        <p:nvSpPr>
          <p:cNvPr id="15" name="Rounded Rectangle 14"/>
          <p:cNvSpPr/>
          <p:nvPr/>
        </p:nvSpPr>
        <p:spPr>
          <a:xfrm>
            <a:off x="685800" y="5495544"/>
            <a:ext cx="10789920" cy="713232"/>
          </a:xfrm>
          <a:prstGeom prst="roundRect">
            <a:avLst>
              <a:gd name="adj" fmla="val 6000"/>
            </a:avLst>
          </a:prstGeom>
          <a:solidFill>
            <a:srgbClr val="F8FAFC"/>
          </a:solidFill>
          <a:ln w="12700">
            <a:solidFill>
              <a:srgbClr val="DDE2E8"/>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400" b="1">
                <a:solidFill>
                  <a:srgbClr val="14181F"/>
                </a:solidFill>
                <a:latin typeface="Segoe UI"/>
              </a:rPr>
              <a:t>Each checkpoint states who can sign it off. Work that needs the NPU cannot be closed by a successful run on a developer machine.</a:t>
            </a:r>
          </a:p>
        </p:txBody>
      </p:sp>
      <p:sp>
        <p:nvSpPr>
          <p:cNvPr id="16" name="TextBox 15"/>
          <p:cNvSpPr txBox="1"/>
          <p:nvPr/>
        </p:nvSpPr>
        <p:spPr>
          <a:xfrm>
            <a:off x="685800" y="6355080"/>
            <a:ext cx="7315200" cy="274320"/>
          </a:xfrm>
          <a:prstGeom prst="rect">
            <a:avLst/>
          </a:prstGeom>
          <a:noFill/>
        </p:spPr>
        <p:txBody>
          <a:bodyPr wrap="square" anchor="t" lIns="0" rIns="0" tIns="0" bIns="0">
            <a:spAutoFit/>
          </a:bodyPr>
          <a:lstStyle/>
          <a:p>
            <a:pPr algn="l">
              <a:spcBef>
                <a:spcPts val="0"/>
              </a:spcBef>
              <a:spcAft>
                <a:spcPts val="600"/>
              </a:spcAft>
            </a:pPr>
            <a:r>
              <a:rPr sz="900" b="0">
                <a:solidFill>
                  <a:srgbClr val="6B7480"/>
                </a:solidFill>
                <a:latin typeface="Segoe UI"/>
              </a:rPr>
              <a:t>Hybrid NPU + GPU Execution  ·  MorphiZen HIP EP</a:t>
            </a:r>
          </a:p>
        </p:txBody>
      </p:sp>
      <p:sp>
        <p:nvSpPr>
          <p:cNvPr id="17" name="TextBox 16"/>
          <p:cNvSpPr txBox="1"/>
          <p:nvPr/>
        </p:nvSpPr>
        <p:spPr>
          <a:xfrm>
            <a:off x="10881360" y="6355080"/>
            <a:ext cx="594360" cy="274320"/>
          </a:xfrm>
          <a:prstGeom prst="rect">
            <a:avLst/>
          </a:prstGeom>
          <a:noFill/>
        </p:spPr>
        <p:txBody>
          <a:bodyPr wrap="square" anchor="t" lIns="0" rIns="0" tIns="0" bIns="0">
            <a:spAutoFit/>
          </a:bodyPr>
          <a:lstStyle/>
          <a:p>
            <a:pPr algn="r">
              <a:spcBef>
                <a:spcPts val="0"/>
              </a:spcBef>
              <a:spcAft>
                <a:spcPts val="600"/>
              </a:spcAft>
            </a:pPr>
            <a:r>
              <a:rPr sz="900" b="0">
                <a:solidFill>
                  <a:srgbClr val="6B7480"/>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384048"/>
            <a:ext cx="10789920" cy="274320"/>
          </a:xfrm>
          <a:prstGeom prst="rect">
            <a:avLst/>
          </a:prstGeom>
          <a:noFill/>
        </p:spPr>
        <p:txBody>
          <a:bodyPr wrap="square" anchor="t" lIns="0" rIns="0" tIns="0" bIns="0">
            <a:spAutoFit/>
          </a:bodyPr>
          <a:lstStyle/>
          <a:p>
            <a:pPr algn="l">
              <a:spcBef>
                <a:spcPts val="0"/>
              </a:spcBef>
              <a:spcAft>
                <a:spcPts val="600"/>
              </a:spcAft>
            </a:pPr>
            <a:r>
              <a:rPr sz="1100" b="1">
                <a:solidFill>
                  <a:srgbClr val="6B7480"/>
                </a:solidFill>
                <a:latin typeface="Segoe UI"/>
              </a:rPr>
              <a:t>DEFINITION OF DONE</a:t>
            </a:r>
          </a:p>
        </p:txBody>
      </p:sp>
      <p:sp>
        <p:nvSpPr>
          <p:cNvPr id="3" name="TextBox 2"/>
          <p:cNvSpPr txBox="1"/>
          <p:nvPr/>
        </p:nvSpPr>
        <p:spPr>
          <a:xfrm>
            <a:off x="685800" y="658368"/>
            <a:ext cx="10789920" cy="548640"/>
          </a:xfrm>
          <a:prstGeom prst="rect">
            <a:avLst/>
          </a:prstGeom>
          <a:noFill/>
        </p:spPr>
        <p:txBody>
          <a:bodyPr wrap="square" anchor="t" lIns="0" rIns="0" tIns="0" bIns="0">
            <a:spAutoFit/>
          </a:bodyPr>
          <a:lstStyle/>
          <a:p>
            <a:pPr algn="l">
              <a:spcBef>
                <a:spcPts val="0"/>
              </a:spcBef>
              <a:spcAft>
                <a:spcPts val="600"/>
              </a:spcAft>
            </a:pPr>
            <a:r>
              <a:rPr sz="3000" b="1">
                <a:solidFill>
                  <a:srgbClr val="14181F"/>
                </a:solidFill>
                <a:latin typeface="Segoe UI"/>
              </a:rPr>
              <a:t>What success looks like</a:t>
            </a:r>
          </a:p>
        </p:txBody>
      </p:sp>
      <p:sp>
        <p:nvSpPr>
          <p:cNvPr id="4" name="Rectangle 3"/>
          <p:cNvSpPr/>
          <p:nvPr/>
        </p:nvSpPr>
        <p:spPr>
          <a:xfrm>
            <a:off x="685800" y="1316736"/>
            <a:ext cx="10789920" cy="15240"/>
          </a:xfrm>
          <a:prstGeom prst="rect">
            <a:avLst/>
          </a:prstGeom>
          <a:solidFill>
            <a:srgbClr val="DD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527048"/>
            <a:ext cx="5212080" cy="1371600"/>
          </a:xfrm>
          <a:prstGeom prst="roundRect">
            <a:avLst>
              <a:gd name="adj" fmla="val 6000"/>
            </a:avLst>
          </a:prstGeom>
          <a:solidFill>
            <a:srgbClr val="FFFFFF"/>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500" b="1">
                <a:solidFill>
                  <a:srgbClr val="14181F"/>
                </a:solidFill>
                <a:latin typeface="Segoe UI"/>
              </a:rPr>
              <a:t>Both models run split across NPU and GPU</a:t>
            </a:r>
          </a:p>
          <a:p>
            <a:pPr algn="l">
              <a:spcAft>
                <a:spcPts val="200"/>
              </a:spcAft>
            </a:pPr>
            <a:r>
              <a:rPr sz="1200" b="0">
                <a:solidFill>
                  <a:srgbClr val="333B47"/>
                </a:solidFill>
                <a:latin typeface="Segoe UI"/>
              </a:rPr>
              <a:t>Llama-3.2-1B and Llama-3.1-8B, in one session, through one execution provider.</a:t>
            </a:r>
          </a:p>
        </p:txBody>
      </p:sp>
      <p:sp>
        <p:nvSpPr>
          <p:cNvPr id="6" name="Rounded Rectangle 5"/>
          <p:cNvSpPr/>
          <p:nvPr/>
        </p:nvSpPr>
        <p:spPr>
          <a:xfrm>
            <a:off x="6263640" y="1527048"/>
            <a:ext cx="5212080" cy="1371600"/>
          </a:xfrm>
          <a:prstGeom prst="roundRect">
            <a:avLst>
              <a:gd name="adj" fmla="val 6000"/>
            </a:avLst>
          </a:prstGeom>
          <a:solidFill>
            <a:srgbClr val="FFFFFF"/>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500" b="1">
                <a:solidFill>
                  <a:srgbClr val="14181F"/>
                </a:solidFill>
                <a:latin typeface="Segoe UI"/>
              </a:rPr>
              <a:t>Nothing is copied, and we can prove it</a:t>
            </a:r>
          </a:p>
          <a:p>
            <a:pPr algn="l">
              <a:spcAft>
                <a:spcPts val="200"/>
              </a:spcAft>
            </a:pPr>
            <a:r>
              <a:rPr sz="1200" b="0">
                <a:solidFill>
                  <a:srgbClr val="333B47"/>
                </a:solidFill>
                <a:latin typeface="Segoe UI"/>
              </a:rPr>
              <a:t>Copy counters read zero across a full generation, with no debug path active.</a:t>
            </a:r>
          </a:p>
        </p:txBody>
      </p:sp>
      <p:sp>
        <p:nvSpPr>
          <p:cNvPr id="7" name="Rounded Rectangle 6"/>
          <p:cNvSpPr/>
          <p:nvPr/>
        </p:nvSpPr>
        <p:spPr>
          <a:xfrm>
            <a:off x="685800" y="3099815"/>
            <a:ext cx="5212080" cy="1371600"/>
          </a:xfrm>
          <a:prstGeom prst="roundRect">
            <a:avLst>
              <a:gd name="adj" fmla="val 6000"/>
            </a:avLst>
          </a:prstGeom>
          <a:solidFill>
            <a:srgbClr val="FFFFFF"/>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500" b="1">
                <a:solidFill>
                  <a:srgbClr val="14181F"/>
                </a:solidFill>
                <a:latin typeface="Segoe UI"/>
              </a:rPr>
              <a:t>Answers match a trusted reference</a:t>
            </a:r>
          </a:p>
          <a:p>
            <a:pPr algn="l">
              <a:spcAft>
                <a:spcPts val="200"/>
              </a:spcAft>
            </a:pPr>
            <a:r>
              <a:rPr sz="1200" b="0">
                <a:solidFill>
                  <a:srgbClr val="333B47"/>
                </a:solidFill>
                <a:latin typeface="Segoe UI"/>
              </a:rPr>
              <a:t>Output matches a CPU reference run; quality measured within tolerance.</a:t>
            </a:r>
          </a:p>
        </p:txBody>
      </p:sp>
      <p:sp>
        <p:nvSpPr>
          <p:cNvPr id="8" name="Rounded Rectangle 7"/>
          <p:cNvSpPr/>
          <p:nvPr/>
        </p:nvSpPr>
        <p:spPr>
          <a:xfrm>
            <a:off x="6263640" y="3099815"/>
            <a:ext cx="5212080" cy="1371600"/>
          </a:xfrm>
          <a:prstGeom prst="roundRect">
            <a:avLst>
              <a:gd name="adj" fmla="val 6000"/>
            </a:avLst>
          </a:prstGeom>
          <a:solidFill>
            <a:srgbClr val="FFFFFF"/>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500" b="1">
                <a:solidFill>
                  <a:srgbClr val="14181F"/>
                </a:solidFill>
                <a:latin typeface="Segoe UI"/>
              </a:rPr>
              <a:t>Today's performance is not regressed</a:t>
            </a:r>
          </a:p>
          <a:p>
            <a:pPr algn="l">
              <a:spcAft>
                <a:spcPts val="200"/>
              </a:spcAft>
            </a:pPr>
            <a:r>
              <a:rPr sz="1200" b="0">
                <a:solidFill>
                  <a:srgbClr val="333B47"/>
                </a:solidFill>
                <a:latin typeface="Segoe UI"/>
              </a:rPr>
              <a:t>Word-generation speed and accuracy are unchanged from the current GPU-only path.</a:t>
            </a:r>
          </a:p>
        </p:txBody>
      </p:sp>
      <p:sp>
        <p:nvSpPr>
          <p:cNvPr id="9" name="Rounded Rectangle 8"/>
          <p:cNvSpPr/>
          <p:nvPr/>
        </p:nvSpPr>
        <p:spPr>
          <a:xfrm>
            <a:off x="685800" y="4818888"/>
            <a:ext cx="10789920" cy="1051560"/>
          </a:xfrm>
          <a:prstGeom prst="roundRect">
            <a:avLst>
              <a:gd name="adj" fmla="val 6000"/>
            </a:avLst>
          </a:prstGeom>
          <a:solidFill>
            <a:srgbClr val="ECFDF5"/>
          </a:solidFill>
          <a:ln w="1905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wrap="square" lIns="82296" rIns="82296" tIns="36576" bIns="36576"/>
          <a:lstStyle/>
          <a:p>
            <a:pPr algn="l">
              <a:spcAft>
                <a:spcPts val="200"/>
              </a:spcAft>
            </a:pPr>
            <a:r>
              <a:rPr sz="1600" b="1">
                <a:solidFill>
                  <a:srgbClr val="14181F"/>
                </a:solidFill>
                <a:latin typeface="Segoe UI"/>
              </a:rPr>
              <a:t>Accuracy is the acceptance criterion</a:t>
            </a:r>
          </a:p>
          <a:p>
            <a:pPr algn="l">
              <a:spcAft>
                <a:spcPts val="200"/>
              </a:spcAft>
            </a:pPr>
            <a:r>
              <a:rPr sz="1300" b="0">
                <a:solidFill>
                  <a:srgbClr val="333B47"/>
                </a:solidFill>
                <a:latin typeface="Segoe UI"/>
              </a:rPr>
              <a:t>No stage is signed off on a speed number. Performance work follows once the arrangement is correct — which keeps us from optimising something that is subtly wrong.</a:t>
            </a:r>
          </a:p>
        </p:txBody>
      </p:sp>
      <p:sp>
        <p:nvSpPr>
          <p:cNvPr id="10" name="TextBox 9"/>
          <p:cNvSpPr txBox="1"/>
          <p:nvPr/>
        </p:nvSpPr>
        <p:spPr>
          <a:xfrm>
            <a:off x="685800" y="6355080"/>
            <a:ext cx="7315200" cy="274320"/>
          </a:xfrm>
          <a:prstGeom prst="rect">
            <a:avLst/>
          </a:prstGeom>
          <a:noFill/>
        </p:spPr>
        <p:txBody>
          <a:bodyPr wrap="square" anchor="t" lIns="0" rIns="0" tIns="0" bIns="0">
            <a:spAutoFit/>
          </a:bodyPr>
          <a:lstStyle/>
          <a:p>
            <a:pPr algn="l">
              <a:spcBef>
                <a:spcPts val="0"/>
              </a:spcBef>
              <a:spcAft>
                <a:spcPts val="600"/>
              </a:spcAft>
            </a:pPr>
            <a:r>
              <a:rPr sz="900" b="0">
                <a:solidFill>
                  <a:srgbClr val="6B7480"/>
                </a:solidFill>
                <a:latin typeface="Segoe UI"/>
              </a:rPr>
              <a:t>Hybrid NPU + GPU Execution  ·  MorphiZen HIP EP</a:t>
            </a:r>
          </a:p>
        </p:txBody>
      </p:sp>
      <p:sp>
        <p:nvSpPr>
          <p:cNvPr id="11" name="TextBox 10"/>
          <p:cNvSpPr txBox="1"/>
          <p:nvPr/>
        </p:nvSpPr>
        <p:spPr>
          <a:xfrm>
            <a:off x="10881360" y="6355080"/>
            <a:ext cx="594360" cy="274320"/>
          </a:xfrm>
          <a:prstGeom prst="rect">
            <a:avLst/>
          </a:prstGeom>
          <a:noFill/>
        </p:spPr>
        <p:txBody>
          <a:bodyPr wrap="square" anchor="t" lIns="0" rIns="0" tIns="0" bIns="0">
            <a:spAutoFit/>
          </a:bodyPr>
          <a:lstStyle/>
          <a:p>
            <a:pPr algn="r">
              <a:spcBef>
                <a:spcPts val="0"/>
              </a:spcBef>
              <a:spcAft>
                <a:spcPts val="600"/>
              </a:spcAft>
            </a:pPr>
            <a:r>
              <a:rPr sz="900" b="0">
                <a:solidFill>
                  <a:srgbClr val="6B7480"/>
                </a:solidFill>
                <a:latin typeface="Segoe UI"/>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